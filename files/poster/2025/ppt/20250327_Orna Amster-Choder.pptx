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5"/>
  </p:handoutMasterIdLst>
  <p:sldIdLst>
    <p:sldId id="258" r:id="rId2"/>
    <p:sldId id="260" r:id="rId3"/>
  </p:sldIdLst>
  <p:sldSz cx="3600450" cy="10080625"/>
  <p:notesSz cx="6858000" cy="9144000"/>
  <p:embeddedFontLst>
    <p:embeddedFont>
      <p:font typeface="SimHei" panose="02010609060101010101" pitchFamily="49" charset="-122"/>
      <p:regular r:id="rId6"/>
    </p:embeddedFont>
    <p:embeddedFont>
      <p:font typeface="Microsoft YaHei UI" panose="020B0503020204020204" pitchFamily="34" charset="-122"/>
      <p:regular r:id="rId7"/>
      <p:bold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3174" userDrawn="1">
          <p15:clr>
            <a:srgbClr val="A4A3A4"/>
          </p15:clr>
        </p15:guide>
        <p15:guide id="2" pos="1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135"/>
    <a:srgbClr val="223516"/>
    <a:srgbClr val="4AD9B0"/>
    <a:srgbClr val="A5FF69"/>
    <a:srgbClr val="8BE1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34"/>
    <p:restoredTop sz="94694"/>
  </p:normalViewPr>
  <p:slideViewPr>
    <p:cSldViewPr snapToGrid="0" showGuides="1">
      <p:cViewPr>
        <p:scale>
          <a:sx n="210" d="100"/>
          <a:sy n="210" d="100"/>
        </p:scale>
        <p:origin x="3568" y="-9768"/>
      </p:cViewPr>
      <p:guideLst>
        <p:guide orient="horz" pos="3174"/>
        <p:guide pos="1287"/>
      </p:guideLst>
    </p:cSldViewPr>
  </p:slideViewPr>
  <p:notesTextViewPr>
    <p:cViewPr>
      <p:scale>
        <a:sx n="1" d="1"/>
        <a:sy n="1" d="1"/>
      </p:scale>
      <p:origin x="0" y="0"/>
    </p:cViewPr>
  </p:notesTextViewPr>
  <p:notesViewPr>
    <p:cSldViewPr snapToGrid="0">
      <p:cViewPr varScale="1">
        <p:scale>
          <a:sx n="58" d="100"/>
          <a:sy n="58" d="100"/>
        </p:scale>
        <p:origin x="2541"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heme" Target="theme/theme1.xml"/><Relationship Id="rId5" Type="http://schemas.openxmlformats.org/officeDocument/2006/relationships/handoutMaster" Target="handoutMasters/handoutMaster1.xml"/><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1C26CF1-820D-4172-9CE3-D0934D5BBE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8CE3A5A-E2AE-42AE-9165-FED0EC9336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8747A-E4B2-4122-A2E7-7F3B204A8E44}" type="datetimeFigureOut">
              <a:rPr lang="zh-CN" altLang="en-US" smtClean="0"/>
              <a:t>2025/3/15</a:t>
            </a:fld>
            <a:endParaRPr lang="zh-CN" altLang="en-US"/>
          </a:p>
        </p:txBody>
      </p:sp>
      <p:sp>
        <p:nvSpPr>
          <p:cNvPr id="4" name="页脚占位符 3">
            <a:extLst>
              <a:ext uri="{FF2B5EF4-FFF2-40B4-BE49-F238E27FC236}">
                <a16:creationId xmlns:a16="http://schemas.microsoft.com/office/drawing/2014/main" id="{C1FEF3FD-D762-4985-B2EE-401FBF7CF8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C8785B44-6356-4966-BEDB-F4F28A678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46BB35-80DC-45F2-B32D-282C46F2690B}" type="slidenum">
              <a:rPr lang="zh-CN" altLang="en-US" smtClean="0"/>
              <a:t>‹#›</a:t>
            </a:fld>
            <a:endParaRPr lang="zh-CN" altLang="en-US"/>
          </a:p>
        </p:txBody>
      </p:sp>
    </p:spTree>
    <p:extLst>
      <p:ext uri="{BB962C8B-B14F-4D97-AF65-F5344CB8AC3E}">
        <p14:creationId xmlns:p14="http://schemas.microsoft.com/office/powerpoint/2010/main" val="1125742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817009" y="685800"/>
            <a:ext cx="12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和内容" userDrawn="1">
  <p:cSld name="OBJECT">
    <p:spTree>
      <p:nvGrpSpPr>
        <p:cNvPr id="1" name="Shape 56"/>
        <p:cNvGrpSpPr/>
        <p:nvPr/>
      </p:nvGrpSpPr>
      <p:grpSpPr>
        <a:xfrm>
          <a:off x="0" y="0"/>
          <a:ext cx="0" cy="0"/>
          <a:chOff x="0" y="0"/>
          <a:chExt cx="0" cy="0"/>
        </a:xfrm>
      </p:grpSpPr>
      <p:grpSp>
        <p:nvGrpSpPr>
          <p:cNvPr id="2" name="Group 1"/>
          <p:cNvGrpSpPr/>
          <p:nvPr userDrawn="1"/>
        </p:nvGrpSpPr>
        <p:grpSpPr>
          <a:xfrm>
            <a:off x="-2768238" y="0"/>
            <a:ext cx="9393311" cy="10850108"/>
            <a:chOff x="-2705893" y="0"/>
            <a:chExt cx="9393311" cy="10850108"/>
          </a:xfrm>
        </p:grpSpPr>
        <p:sp>
          <p:nvSpPr>
            <p:cNvPr id="3" name="Rectangle 2"/>
            <p:cNvSpPr/>
            <p:nvPr/>
          </p:nvSpPr>
          <p:spPr>
            <a:xfrm>
              <a:off x="434" y="0"/>
              <a:ext cx="3678047" cy="10081958"/>
            </a:xfrm>
            <a:prstGeom prst="rect">
              <a:avLst/>
            </a:prstGeom>
            <a:gradFill flip="none" rotWithShape="1">
              <a:gsLst>
                <a:gs pos="0">
                  <a:srgbClr val="223516"/>
                </a:gs>
                <a:gs pos="49000">
                  <a:srgbClr val="548135"/>
                </a:gs>
                <a:gs pos="99000">
                  <a:srgbClr val="4AD9B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40;p25"/>
            <p:cNvSpPr/>
            <p:nvPr/>
          </p:nvSpPr>
          <p:spPr>
            <a:xfrm>
              <a:off x="459849" y="611077"/>
              <a:ext cx="2765400" cy="309900"/>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rPr>
                <a:t>Guangzhou RNA club</a:t>
              </a:r>
              <a:endParaRPr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endParaRPr>
            </a:p>
          </p:txBody>
        </p:sp>
        <p:sp>
          <p:nvSpPr>
            <p:cNvPr id="5" name="图形 2"/>
            <p:cNvSpPr>
              <a:spLocks noChangeAspect="1"/>
            </p:cNvSpPr>
            <p:nvPr/>
          </p:nvSpPr>
          <p:spPr>
            <a:xfrm>
              <a:off x="435" y="124314"/>
              <a:ext cx="3678046" cy="483500"/>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6335" y="114657"/>
              <a:ext cx="453272" cy="358840"/>
            </a:xfrm>
            <a:prstGeom prst="rect">
              <a:avLst/>
            </a:prstGeom>
          </p:spPr>
        </p:pic>
        <p:pic>
          <p:nvPicPr>
            <p:cNvPr id="7" name="Picture 2"/>
            <p:cNvPicPr>
              <a:picLocks noChangeAspect="1" noChangeArrowheads="1"/>
            </p:cNvPicPr>
            <p:nvPr/>
          </p:nvPicPr>
          <p:blipFill>
            <a:blip r:embed="rId4">
              <a:alphaModFix amt="50000"/>
              <a:lum bright="70000" contrast="-70000"/>
              <a:extLst>
                <a:ext uri="{28A0092B-C50C-407E-A947-70E740481C1C}">
                  <a14:useLocalDpi xmlns:a14="http://schemas.microsoft.com/office/drawing/2010/main" val="0"/>
                </a:ext>
              </a:extLst>
            </a:blip>
            <a:srcRect/>
            <a:stretch>
              <a:fillRect/>
            </a:stretch>
          </p:blipFill>
          <p:spPr bwMode="auto">
            <a:xfrm>
              <a:off x="21929" y="1386568"/>
              <a:ext cx="3600450" cy="287972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alphaModFix amt="10000"/>
              <a:biLevel thresh="25000"/>
            </a:blip>
            <a:stretch>
              <a:fillRect/>
            </a:stretch>
          </p:blipFill>
          <p:spPr>
            <a:xfrm rot="1066978">
              <a:off x="-2705893" y="5873543"/>
              <a:ext cx="9393311" cy="4976565"/>
            </a:xfrm>
            <a:prstGeom prst="rect">
              <a:avLst/>
            </a:prstGeom>
          </p:spPr>
        </p:pic>
      </p:grpSp>
      <p:grpSp>
        <p:nvGrpSpPr>
          <p:cNvPr id="16" name="Group 15">
            <a:extLst>
              <a:ext uri="{FF2B5EF4-FFF2-40B4-BE49-F238E27FC236}">
                <a16:creationId xmlns:a16="http://schemas.microsoft.com/office/drawing/2014/main" id="{8F525CDD-8C4B-5D4E-B6C0-EB3DD00E533E}"/>
              </a:ext>
            </a:extLst>
          </p:cNvPr>
          <p:cNvGrpSpPr/>
          <p:nvPr userDrawn="1"/>
        </p:nvGrpSpPr>
        <p:grpSpPr>
          <a:xfrm>
            <a:off x="1549683" y="24904"/>
            <a:ext cx="1980653" cy="182362"/>
            <a:chOff x="1130250" y="1216820"/>
            <a:chExt cx="2316939" cy="213324"/>
          </a:xfrm>
        </p:grpSpPr>
        <p:sp>
          <p:nvSpPr>
            <p:cNvPr id="37" name="Rectangle 36">
              <a:extLst>
                <a:ext uri="{FF2B5EF4-FFF2-40B4-BE49-F238E27FC236}">
                  <a16:creationId xmlns:a16="http://schemas.microsoft.com/office/drawing/2014/main" id="{6B4F00F4-02E5-D249-9F81-6779991C7018}"/>
                </a:ext>
              </a:extLst>
            </p:cNvPr>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ABA3887-5F5A-5A4D-8094-CCEE84B826FC}"/>
                </a:ext>
              </a:extLst>
            </p:cNvPr>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2C83661-AD3A-A54B-952D-1E9E4C029CF2}"/>
                </a:ext>
              </a:extLst>
            </p:cNvPr>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66BE2E2-3A20-7942-9A6C-0370AB01BB17}"/>
                </a:ext>
              </a:extLst>
            </p:cNvPr>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FA224DEC-71F0-FC46-88C0-8ECE7E0E47AD}"/>
                </a:ext>
              </a:extLst>
            </p:cNvPr>
            <p:cNvPicPr>
              <a:picLocks noChangeAspect="1"/>
            </p:cNvPicPr>
            <p:nvPr userDrawn="1"/>
          </p:nvPicPr>
          <p:blipFill rotWithShape="1">
            <a:blip r:embed="rId6"/>
            <a:srcRect l="4652" t="32408" r="5453" b="32791"/>
            <a:stretch/>
          </p:blipFill>
          <p:spPr>
            <a:xfrm>
              <a:off x="1130250" y="1257969"/>
              <a:ext cx="541529" cy="131027"/>
            </a:xfrm>
            <a:prstGeom prst="rect">
              <a:avLst/>
            </a:prstGeom>
          </p:spPr>
        </p:pic>
        <p:grpSp>
          <p:nvGrpSpPr>
            <p:cNvPr id="31" name="Group 30">
              <a:extLst>
                <a:ext uri="{FF2B5EF4-FFF2-40B4-BE49-F238E27FC236}">
                  <a16:creationId xmlns:a16="http://schemas.microsoft.com/office/drawing/2014/main" id="{68557BB3-DFA9-9241-A84E-12CDC6CEE3DD}"/>
                </a:ext>
              </a:extLst>
            </p:cNvPr>
            <p:cNvGrpSpPr>
              <a:grpSpLocks noChangeAspect="1"/>
            </p:cNvGrpSpPr>
            <p:nvPr userDrawn="1"/>
          </p:nvGrpSpPr>
          <p:grpSpPr>
            <a:xfrm>
              <a:off x="1777112" y="1233482"/>
              <a:ext cx="434661" cy="180000"/>
              <a:chOff x="2561030" y="9647587"/>
              <a:chExt cx="892417" cy="316706"/>
            </a:xfrm>
          </p:grpSpPr>
          <p:sp>
            <p:nvSpPr>
              <p:cNvPr id="32" name="Rounded Rectangle 31">
                <a:extLst>
                  <a:ext uri="{FF2B5EF4-FFF2-40B4-BE49-F238E27FC236}">
                    <a16:creationId xmlns:a16="http://schemas.microsoft.com/office/drawing/2014/main" id="{487E50F0-43B0-9948-B37E-4DBA0C5938D7}"/>
                  </a:ext>
                </a:extLst>
              </p:cNvPr>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a:extLst>
                  <a:ext uri="{FF2B5EF4-FFF2-40B4-BE49-F238E27FC236}">
                    <a16:creationId xmlns:a16="http://schemas.microsoft.com/office/drawing/2014/main" id="{B893D71B-2116-5646-B320-B237DFD9DD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34" name="Picture 2" descr="Lexogen at the Swiss Biotech Day">
              <a:extLst>
                <a:ext uri="{FF2B5EF4-FFF2-40B4-BE49-F238E27FC236}">
                  <a16:creationId xmlns:a16="http://schemas.microsoft.com/office/drawing/2014/main" id="{C446285F-1E89-C74D-BEE7-2A7D92097C1C}"/>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36" name="图片 11">
              <a:extLst>
                <a:ext uri="{FF2B5EF4-FFF2-40B4-BE49-F238E27FC236}">
                  <a16:creationId xmlns:a16="http://schemas.microsoft.com/office/drawing/2014/main" id="{1A9DFB55-AAEA-CB42-A32F-85DA41B4EC83}"/>
                </a:ext>
              </a:extLst>
            </p:cNvPr>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45" name="Group 44">
            <a:extLst>
              <a:ext uri="{FF2B5EF4-FFF2-40B4-BE49-F238E27FC236}">
                <a16:creationId xmlns:a16="http://schemas.microsoft.com/office/drawing/2014/main" id="{9F6CDEC7-EF45-3746-92EA-C687D9CF0086}"/>
              </a:ext>
            </a:extLst>
          </p:cNvPr>
          <p:cNvGrpSpPr/>
          <p:nvPr userDrawn="1"/>
        </p:nvGrpSpPr>
        <p:grpSpPr>
          <a:xfrm>
            <a:off x="607925" y="9752815"/>
            <a:ext cx="2907838" cy="267730"/>
            <a:chOff x="1130250" y="1216820"/>
            <a:chExt cx="2316939" cy="213324"/>
          </a:xfrm>
        </p:grpSpPr>
        <p:sp>
          <p:nvSpPr>
            <p:cNvPr id="46" name="Rectangle 45">
              <a:extLst>
                <a:ext uri="{FF2B5EF4-FFF2-40B4-BE49-F238E27FC236}">
                  <a16:creationId xmlns:a16="http://schemas.microsoft.com/office/drawing/2014/main" id="{5C670335-DAB8-4A41-BBC1-7175C36F040A}"/>
                </a:ext>
              </a:extLst>
            </p:cNvPr>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C36204F-52C7-7A45-B56F-46A64B957EE9}"/>
                </a:ext>
              </a:extLst>
            </p:cNvPr>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F4C5C81-C4F3-1840-B1FD-55583757FE91}"/>
                </a:ext>
              </a:extLst>
            </p:cNvPr>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B0F2DF7-27D0-E647-8804-28E1143BE5F2}"/>
                </a:ext>
              </a:extLst>
            </p:cNvPr>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764CE747-AB16-9D42-AB1E-3A138F452A50}"/>
                </a:ext>
              </a:extLst>
            </p:cNvPr>
            <p:cNvPicPr>
              <a:picLocks noChangeAspect="1"/>
            </p:cNvPicPr>
            <p:nvPr userDrawn="1"/>
          </p:nvPicPr>
          <p:blipFill rotWithShape="1">
            <a:blip r:embed="rId6"/>
            <a:srcRect l="4652" t="32408" r="5453" b="32791"/>
            <a:stretch/>
          </p:blipFill>
          <p:spPr>
            <a:xfrm>
              <a:off x="1130250" y="1257969"/>
              <a:ext cx="541529" cy="131027"/>
            </a:xfrm>
            <a:prstGeom prst="rect">
              <a:avLst/>
            </a:prstGeom>
          </p:spPr>
        </p:pic>
        <p:grpSp>
          <p:nvGrpSpPr>
            <p:cNvPr id="51" name="Group 50">
              <a:extLst>
                <a:ext uri="{FF2B5EF4-FFF2-40B4-BE49-F238E27FC236}">
                  <a16:creationId xmlns:a16="http://schemas.microsoft.com/office/drawing/2014/main" id="{1D91B276-1017-7E4F-994D-BCF9BA4E56B3}"/>
                </a:ext>
              </a:extLst>
            </p:cNvPr>
            <p:cNvGrpSpPr>
              <a:grpSpLocks noChangeAspect="1"/>
            </p:cNvGrpSpPr>
            <p:nvPr userDrawn="1"/>
          </p:nvGrpSpPr>
          <p:grpSpPr>
            <a:xfrm>
              <a:off x="1777112" y="1233482"/>
              <a:ext cx="434661" cy="180000"/>
              <a:chOff x="2561030" y="9647587"/>
              <a:chExt cx="892417" cy="316706"/>
            </a:xfrm>
          </p:grpSpPr>
          <p:sp>
            <p:nvSpPr>
              <p:cNvPr id="54" name="Rounded Rectangle 53">
                <a:extLst>
                  <a:ext uri="{FF2B5EF4-FFF2-40B4-BE49-F238E27FC236}">
                    <a16:creationId xmlns:a16="http://schemas.microsoft.com/office/drawing/2014/main" id="{ED6B39A1-0187-2747-A792-CA262F1D9501}"/>
                  </a:ext>
                </a:extLst>
              </p:cNvPr>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a:extLst>
                  <a:ext uri="{FF2B5EF4-FFF2-40B4-BE49-F238E27FC236}">
                    <a16:creationId xmlns:a16="http://schemas.microsoft.com/office/drawing/2014/main" id="{F5DB15B0-7214-1A40-96D8-BED786E6B4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52" name="Picture 2" descr="Lexogen at the Swiss Biotech Day">
              <a:extLst>
                <a:ext uri="{FF2B5EF4-FFF2-40B4-BE49-F238E27FC236}">
                  <a16:creationId xmlns:a16="http://schemas.microsoft.com/office/drawing/2014/main" id="{0F8686A7-DD00-0149-A029-10E0FFBE46A0}"/>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53" name="图片 11">
              <a:extLst>
                <a:ext uri="{FF2B5EF4-FFF2-40B4-BE49-F238E27FC236}">
                  <a16:creationId xmlns:a16="http://schemas.microsoft.com/office/drawing/2014/main" id="{E4DD40A5-0D3A-4D47-A797-46EEA2FB0DFD}"/>
                </a:ext>
              </a:extLst>
            </p:cNvPr>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12" name="Group 11">
            <a:extLst>
              <a:ext uri="{FF2B5EF4-FFF2-40B4-BE49-F238E27FC236}">
                <a16:creationId xmlns:a16="http://schemas.microsoft.com/office/drawing/2014/main" id="{5CEA8F99-4D3D-5046-A292-3ABC045269C5}"/>
              </a:ext>
            </a:extLst>
          </p:cNvPr>
          <p:cNvGrpSpPr/>
          <p:nvPr userDrawn="1"/>
        </p:nvGrpSpPr>
        <p:grpSpPr>
          <a:xfrm>
            <a:off x="507494" y="80364"/>
            <a:ext cx="208689" cy="208689"/>
            <a:chOff x="-2720596" y="573911"/>
            <a:chExt cx="2222500" cy="2222500"/>
          </a:xfrm>
        </p:grpSpPr>
        <p:sp>
          <p:nvSpPr>
            <p:cNvPr id="11" name="Oval 10">
              <a:extLst>
                <a:ext uri="{FF2B5EF4-FFF2-40B4-BE49-F238E27FC236}">
                  <a16:creationId xmlns:a16="http://schemas.microsoft.com/office/drawing/2014/main" id="{D67119CF-E2C3-0046-85E1-FF8AE55EDE11}"/>
                </a:ext>
              </a:extLst>
            </p:cNvPr>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EE73EE2-309E-C643-80D6-2C14689E37EC}"/>
                </a:ext>
              </a:extLst>
            </p:cNvPr>
            <p:cNvPicPr>
              <a:picLocks noChangeAspect="1"/>
            </p:cNvPicPr>
            <p:nvPr userDrawn="1"/>
          </p:nvPicPr>
          <p:blipFill>
            <a:blip r:embed="rId11"/>
            <a:stretch>
              <a:fillRect/>
            </a:stretch>
          </p:blipFill>
          <p:spPr>
            <a:xfrm>
              <a:off x="-2720596" y="573911"/>
              <a:ext cx="2222500" cy="2222500"/>
            </a:xfrm>
            <a:prstGeom prst="rect">
              <a:avLst/>
            </a:prstGeom>
          </p:spPr>
        </p:pic>
      </p:grpSp>
      <p:grpSp>
        <p:nvGrpSpPr>
          <p:cNvPr id="41" name="Group 40">
            <a:extLst>
              <a:ext uri="{FF2B5EF4-FFF2-40B4-BE49-F238E27FC236}">
                <a16:creationId xmlns:a16="http://schemas.microsoft.com/office/drawing/2014/main" id="{2C82D973-E327-4D41-AD5A-4555EF9BF11A}"/>
              </a:ext>
            </a:extLst>
          </p:cNvPr>
          <p:cNvGrpSpPr/>
          <p:nvPr userDrawn="1"/>
        </p:nvGrpSpPr>
        <p:grpSpPr>
          <a:xfrm>
            <a:off x="84384" y="9556493"/>
            <a:ext cx="464052" cy="464052"/>
            <a:chOff x="-2720596" y="573911"/>
            <a:chExt cx="2222500" cy="2222500"/>
          </a:xfrm>
        </p:grpSpPr>
        <p:sp>
          <p:nvSpPr>
            <p:cNvPr id="42" name="Oval 41">
              <a:extLst>
                <a:ext uri="{FF2B5EF4-FFF2-40B4-BE49-F238E27FC236}">
                  <a16:creationId xmlns:a16="http://schemas.microsoft.com/office/drawing/2014/main" id="{B5DD374B-1FDA-BD43-903F-87F219682FA4}"/>
                </a:ext>
              </a:extLst>
            </p:cNvPr>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56E97CBC-2D63-1F4A-8081-16A676293730}"/>
                </a:ext>
              </a:extLst>
            </p:cNvPr>
            <p:cNvPicPr>
              <a:picLocks noChangeAspect="1"/>
            </p:cNvPicPr>
            <p:nvPr userDrawn="1"/>
          </p:nvPicPr>
          <p:blipFill>
            <a:blip r:embed="rId11"/>
            <a:stretch>
              <a:fillRect/>
            </a:stretch>
          </p:blipFill>
          <p:spPr>
            <a:xfrm>
              <a:off x="-2720596" y="573911"/>
              <a:ext cx="2222500" cy="2222500"/>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45625" y="2513003"/>
            <a:ext cx="3105000" cy="41934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2800"/>
              <a:buFont typeface="Calibri" panose="020F0502020204030204"/>
              <a:buNone/>
              <a:defRPr sz="28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0" name="Google Shape;70;p16"/>
          <p:cNvSpPr txBox="1">
            <a:spLocks noGrp="1"/>
          </p:cNvSpPr>
          <p:nvPr>
            <p:ph type="body" idx="1"/>
          </p:nvPr>
        </p:nvSpPr>
        <p:spPr>
          <a:xfrm>
            <a:off x="245625" y="6745670"/>
            <a:ext cx="3105000" cy="22053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1200"/>
              <a:buNone/>
              <a:defRPr sz="1200">
                <a:solidFill>
                  <a:schemeClr val="dk1"/>
                </a:solidFill>
              </a:defRPr>
            </a:lvl1pPr>
            <a:lvl2pPr marL="914400" lvl="1" indent="-228600" algn="l">
              <a:lnSpc>
                <a:spcPct val="90000"/>
              </a:lnSpc>
              <a:spcBef>
                <a:spcPts val="200"/>
              </a:spcBef>
              <a:spcAft>
                <a:spcPts val="0"/>
              </a:spcAft>
              <a:buClr>
                <a:srgbClr val="888888"/>
              </a:buClr>
              <a:buSzPts val="1000"/>
              <a:buNone/>
              <a:defRPr sz="1000">
                <a:solidFill>
                  <a:srgbClr val="888888"/>
                </a:solidFill>
              </a:defRPr>
            </a:lvl2pPr>
            <a:lvl3pPr marL="1371600" lvl="2" indent="-228600" algn="l">
              <a:lnSpc>
                <a:spcPct val="90000"/>
              </a:lnSpc>
              <a:spcBef>
                <a:spcPts val="200"/>
              </a:spcBef>
              <a:spcAft>
                <a:spcPts val="0"/>
              </a:spcAft>
              <a:buClr>
                <a:srgbClr val="888888"/>
              </a:buClr>
              <a:buSzPts val="800"/>
              <a:buNone/>
              <a:defRPr sz="800">
                <a:solidFill>
                  <a:srgbClr val="888888"/>
                </a:solidFill>
              </a:defRPr>
            </a:lvl3pPr>
            <a:lvl4pPr marL="1828800" lvl="3" indent="-228600" algn="l">
              <a:lnSpc>
                <a:spcPct val="90000"/>
              </a:lnSpc>
              <a:spcBef>
                <a:spcPts val="200"/>
              </a:spcBef>
              <a:spcAft>
                <a:spcPts val="0"/>
              </a:spcAft>
              <a:buClr>
                <a:srgbClr val="888888"/>
              </a:buClr>
              <a:buSzPts val="800"/>
              <a:buNone/>
              <a:defRPr sz="800">
                <a:solidFill>
                  <a:srgbClr val="888888"/>
                </a:solidFill>
              </a:defRPr>
            </a:lvl4pPr>
            <a:lvl5pPr marL="2286000" lvl="4" indent="-228600" algn="l">
              <a:lnSpc>
                <a:spcPct val="90000"/>
              </a:lnSpc>
              <a:spcBef>
                <a:spcPts val="200"/>
              </a:spcBef>
              <a:spcAft>
                <a:spcPts val="0"/>
              </a:spcAft>
              <a:buClr>
                <a:srgbClr val="888888"/>
              </a:buClr>
              <a:buSzPts val="800"/>
              <a:buNone/>
              <a:defRPr sz="800">
                <a:solidFill>
                  <a:srgbClr val="888888"/>
                </a:solidFill>
              </a:defRPr>
            </a:lvl5pPr>
            <a:lvl6pPr marL="2743200" lvl="5" indent="-228600" algn="l">
              <a:lnSpc>
                <a:spcPct val="90000"/>
              </a:lnSpc>
              <a:spcBef>
                <a:spcPts val="200"/>
              </a:spcBef>
              <a:spcAft>
                <a:spcPts val="0"/>
              </a:spcAft>
              <a:buClr>
                <a:srgbClr val="888888"/>
              </a:buClr>
              <a:buSzPts val="800"/>
              <a:buNone/>
              <a:defRPr sz="800">
                <a:solidFill>
                  <a:srgbClr val="888888"/>
                </a:solidFill>
              </a:defRPr>
            </a:lvl6pPr>
            <a:lvl7pPr marL="3200400" lvl="6" indent="-228600" algn="l">
              <a:lnSpc>
                <a:spcPct val="90000"/>
              </a:lnSpc>
              <a:spcBef>
                <a:spcPts val="200"/>
              </a:spcBef>
              <a:spcAft>
                <a:spcPts val="0"/>
              </a:spcAft>
              <a:buClr>
                <a:srgbClr val="888888"/>
              </a:buClr>
              <a:buSzPts val="800"/>
              <a:buNone/>
              <a:defRPr sz="800">
                <a:solidFill>
                  <a:srgbClr val="888888"/>
                </a:solidFill>
              </a:defRPr>
            </a:lvl7pPr>
            <a:lvl8pPr marL="3657600" lvl="7" indent="-228600" algn="l">
              <a:lnSpc>
                <a:spcPct val="90000"/>
              </a:lnSpc>
              <a:spcBef>
                <a:spcPts val="200"/>
              </a:spcBef>
              <a:spcAft>
                <a:spcPts val="0"/>
              </a:spcAft>
              <a:buClr>
                <a:srgbClr val="888888"/>
              </a:buClr>
              <a:buSzPts val="800"/>
              <a:buNone/>
              <a:defRPr sz="800">
                <a:solidFill>
                  <a:srgbClr val="888888"/>
                </a:solidFill>
              </a:defRPr>
            </a:lvl8pPr>
            <a:lvl9pPr marL="4114800" lvl="8" indent="-228600" algn="l">
              <a:lnSpc>
                <a:spcPct val="90000"/>
              </a:lnSpc>
              <a:spcBef>
                <a:spcPts val="200"/>
              </a:spcBef>
              <a:spcAft>
                <a:spcPts val="0"/>
              </a:spcAft>
              <a:buClr>
                <a:srgbClr val="888888"/>
              </a:buClr>
              <a:buSzPts val="800"/>
              <a:buNone/>
              <a:defRPr sz="800">
                <a:solidFill>
                  <a:srgbClr val="888888"/>
                </a:solidFill>
              </a:defRPr>
            </a:lvl9pPr>
          </a:lstStyle>
          <a:p>
            <a:endParaRPr/>
          </a:p>
        </p:txBody>
      </p:sp>
      <p:sp>
        <p:nvSpPr>
          <p:cNvPr id="71" name="Google Shape;71;p16"/>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2" name="Google Shape;72;p16"/>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3" name="Google Shape;73;p16"/>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6" name="Google Shape;76;p17"/>
          <p:cNvSpPr txBox="1">
            <a:spLocks noGrp="1"/>
          </p:cNvSpPr>
          <p:nvPr>
            <p:ph type="body" idx="1"/>
          </p:nvPr>
        </p:nvSpPr>
        <p:spPr>
          <a:xfrm>
            <a:off x="247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7" name="Google Shape;77;p17"/>
          <p:cNvSpPr txBox="1">
            <a:spLocks noGrp="1"/>
          </p:cNvSpPr>
          <p:nvPr>
            <p:ph type="body" idx="2"/>
          </p:nvPr>
        </p:nvSpPr>
        <p:spPr>
          <a:xfrm>
            <a:off x="1822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8" name="Google Shape;78;p17"/>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9" name="Google Shape;79;p17"/>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0" name="Google Shape;80;p17"/>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47969"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83" name="Google Shape;83;p18"/>
          <p:cNvSpPr txBox="1">
            <a:spLocks noGrp="1"/>
          </p:cNvSpPr>
          <p:nvPr>
            <p:ph type="body" idx="1"/>
          </p:nvPr>
        </p:nvSpPr>
        <p:spPr>
          <a:xfrm>
            <a:off x="247970" y="2471001"/>
            <a:ext cx="15231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4" name="Google Shape;84;p18"/>
          <p:cNvSpPr txBox="1">
            <a:spLocks noGrp="1"/>
          </p:cNvSpPr>
          <p:nvPr>
            <p:ph type="body" idx="2"/>
          </p:nvPr>
        </p:nvSpPr>
        <p:spPr>
          <a:xfrm>
            <a:off x="247970" y="3682000"/>
            <a:ext cx="15231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5" name="Google Shape;85;p18"/>
          <p:cNvSpPr txBox="1">
            <a:spLocks noGrp="1"/>
          </p:cNvSpPr>
          <p:nvPr>
            <p:ph type="body" idx="3"/>
          </p:nvPr>
        </p:nvSpPr>
        <p:spPr>
          <a:xfrm>
            <a:off x="1822500" y="2471001"/>
            <a:ext cx="15306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6" name="Google Shape;86;p18"/>
          <p:cNvSpPr txBox="1">
            <a:spLocks noGrp="1"/>
          </p:cNvSpPr>
          <p:nvPr>
            <p:ph type="body" idx="4"/>
          </p:nvPr>
        </p:nvSpPr>
        <p:spPr>
          <a:xfrm>
            <a:off x="1822500" y="3682000"/>
            <a:ext cx="15306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7" name="Google Shape;87;p18"/>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8" name="Google Shape;88;p18"/>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9" name="Google Shape;89;p18"/>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7" name="Google Shape;97;p20"/>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8" name="Google Shape;98;p20"/>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1" name="Google Shape;101;p21"/>
          <p:cNvSpPr txBox="1">
            <a:spLocks noGrp="1"/>
          </p:cNvSpPr>
          <p:nvPr>
            <p:ph type="body" idx="1"/>
          </p:nvPr>
        </p:nvSpPr>
        <p:spPr>
          <a:xfrm>
            <a:off x="1530469" y="1451335"/>
            <a:ext cx="1822500" cy="7163400"/>
          </a:xfrm>
          <a:prstGeom prst="rect">
            <a:avLst/>
          </a:prstGeom>
          <a:noFill/>
          <a:ln>
            <a:noFill/>
          </a:ln>
        </p:spPr>
        <p:txBody>
          <a:bodyPr spcFirstLastPara="1" wrap="square" lIns="86550" tIns="43250" rIns="86550" bIns="43250" anchor="t" anchorCtr="0">
            <a:normAutofit/>
          </a:bodyPr>
          <a:lstStyle>
            <a:lvl1pPr marL="457200" lvl="0" indent="-323850" algn="l">
              <a:lnSpc>
                <a:spcPct val="90000"/>
              </a:lnSpc>
              <a:spcBef>
                <a:spcPts val="500"/>
              </a:spcBef>
              <a:spcAft>
                <a:spcPts val="0"/>
              </a:spcAft>
              <a:buClr>
                <a:schemeClr val="dk1"/>
              </a:buClr>
              <a:buSzPts val="1500"/>
              <a:buChar char="•"/>
              <a:defRPr sz="1500"/>
            </a:lvl1pPr>
            <a:lvl2pPr marL="914400" lvl="1" indent="-311150" algn="l">
              <a:lnSpc>
                <a:spcPct val="90000"/>
              </a:lnSpc>
              <a:spcBef>
                <a:spcPts val="200"/>
              </a:spcBef>
              <a:spcAft>
                <a:spcPts val="0"/>
              </a:spcAft>
              <a:buClr>
                <a:schemeClr val="dk1"/>
              </a:buClr>
              <a:buSzPts val="1300"/>
              <a:buChar char="•"/>
              <a:defRPr sz="1300"/>
            </a:lvl2pPr>
            <a:lvl3pPr marL="1371600" lvl="2" indent="-304800" algn="l">
              <a:lnSpc>
                <a:spcPct val="90000"/>
              </a:lnSpc>
              <a:spcBef>
                <a:spcPts val="200"/>
              </a:spcBef>
              <a:spcAft>
                <a:spcPts val="0"/>
              </a:spcAft>
              <a:buClr>
                <a:schemeClr val="dk1"/>
              </a:buClr>
              <a:buSzPts val="1200"/>
              <a:buChar char="•"/>
              <a:defRPr sz="1200"/>
            </a:lvl3pPr>
            <a:lvl4pPr marL="1828800" lvl="3" indent="-292100" algn="l">
              <a:lnSpc>
                <a:spcPct val="90000"/>
              </a:lnSpc>
              <a:spcBef>
                <a:spcPts val="200"/>
              </a:spcBef>
              <a:spcAft>
                <a:spcPts val="0"/>
              </a:spcAft>
              <a:buClr>
                <a:schemeClr val="dk1"/>
              </a:buClr>
              <a:buSzPts val="1000"/>
              <a:buChar char="•"/>
              <a:defRPr sz="1000"/>
            </a:lvl4pPr>
            <a:lvl5pPr marL="2286000" lvl="4" indent="-292100" algn="l">
              <a:lnSpc>
                <a:spcPct val="90000"/>
              </a:lnSpc>
              <a:spcBef>
                <a:spcPts val="200"/>
              </a:spcBef>
              <a:spcAft>
                <a:spcPts val="0"/>
              </a:spcAft>
              <a:buClr>
                <a:schemeClr val="dk1"/>
              </a:buClr>
              <a:buSzPts val="1000"/>
              <a:buChar char="•"/>
              <a:defRPr sz="1000"/>
            </a:lvl5pPr>
            <a:lvl6pPr marL="2743200" lvl="5" indent="-292100" algn="l">
              <a:lnSpc>
                <a:spcPct val="90000"/>
              </a:lnSpc>
              <a:spcBef>
                <a:spcPts val="200"/>
              </a:spcBef>
              <a:spcAft>
                <a:spcPts val="0"/>
              </a:spcAft>
              <a:buClr>
                <a:schemeClr val="dk1"/>
              </a:buClr>
              <a:buSzPts val="1000"/>
              <a:buChar char="•"/>
              <a:defRPr sz="1000"/>
            </a:lvl6pPr>
            <a:lvl7pPr marL="3200400" lvl="6" indent="-292100" algn="l">
              <a:lnSpc>
                <a:spcPct val="90000"/>
              </a:lnSpc>
              <a:spcBef>
                <a:spcPts val="200"/>
              </a:spcBef>
              <a:spcAft>
                <a:spcPts val="0"/>
              </a:spcAft>
              <a:buClr>
                <a:schemeClr val="dk1"/>
              </a:buClr>
              <a:buSzPts val="1000"/>
              <a:buChar char="•"/>
              <a:defRPr sz="1000"/>
            </a:lvl7pPr>
            <a:lvl8pPr marL="3657600" lvl="7" indent="-292100" algn="l">
              <a:lnSpc>
                <a:spcPct val="90000"/>
              </a:lnSpc>
              <a:spcBef>
                <a:spcPts val="200"/>
              </a:spcBef>
              <a:spcAft>
                <a:spcPts val="0"/>
              </a:spcAft>
              <a:buClr>
                <a:schemeClr val="dk1"/>
              </a:buClr>
              <a:buSzPts val="1000"/>
              <a:buChar char="•"/>
              <a:defRPr sz="1000"/>
            </a:lvl8pPr>
            <a:lvl9pPr marL="4114800" lvl="8" indent="-292100" algn="l">
              <a:lnSpc>
                <a:spcPct val="90000"/>
              </a:lnSpc>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4" name="Google Shape;104;p21"/>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5" name="Google Shape;105;p21"/>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8" name="Google Shape;108;p22"/>
          <p:cNvSpPr>
            <a:spLocks noGrp="1"/>
          </p:cNvSpPr>
          <p:nvPr>
            <p:ph type="pic" idx="2"/>
          </p:nvPr>
        </p:nvSpPr>
        <p:spPr>
          <a:xfrm>
            <a:off x="1530469" y="1451335"/>
            <a:ext cx="1822500" cy="7163400"/>
          </a:xfrm>
          <a:prstGeom prst="rect">
            <a:avLst/>
          </a:prstGeom>
          <a:noFill/>
          <a:ln>
            <a:noFill/>
          </a:ln>
        </p:spPr>
      </p:sp>
      <p:sp>
        <p:nvSpPr>
          <p:cNvPr id="109" name="Google Shape;109;p22"/>
          <p:cNvSpPr txBox="1">
            <a:spLocks noGrp="1"/>
          </p:cNvSpPr>
          <p:nvPr>
            <p:ph type="body" idx="1"/>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1" name="Google Shape;111;p22"/>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2" name="Google Shape;112;p22"/>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15" name="Google Shape;115;p23"/>
          <p:cNvSpPr txBox="1">
            <a:spLocks noGrp="1"/>
          </p:cNvSpPr>
          <p:nvPr>
            <p:ph type="body" idx="1"/>
          </p:nvPr>
        </p:nvSpPr>
        <p:spPr>
          <a:xfrm rot="5400000">
            <a:off x="-1398150" y="4328983"/>
            <a:ext cx="6396300" cy="31050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16" name="Google Shape;116;p2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7" name="Google Shape;117;p2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8" name="Google Shape;118;p2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06500" y="4419566"/>
            <a:ext cx="8541900" cy="7761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21" name="Google Shape;121;p24"/>
          <p:cNvSpPr txBox="1">
            <a:spLocks noGrp="1"/>
          </p:cNvSpPr>
          <p:nvPr>
            <p:ph type="body" idx="1"/>
          </p:nvPr>
        </p:nvSpPr>
        <p:spPr>
          <a:xfrm rot="5400000">
            <a:off x="-2881500" y="3665816"/>
            <a:ext cx="8541900" cy="22836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22" name="Google Shape;122;p24"/>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3" name="Google Shape;123;p24"/>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4" name="Google Shape;124;p24"/>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marR="0" lvl="0" algn="l" rtl="0">
              <a:lnSpc>
                <a:spcPct val="90000"/>
              </a:lnSpc>
              <a:spcBef>
                <a:spcPts val="0"/>
              </a:spcBef>
              <a:spcAft>
                <a:spcPts val="0"/>
              </a:spcAft>
              <a:buClr>
                <a:schemeClr val="dk1"/>
              </a:buClr>
              <a:buSzPts val="2200"/>
              <a:buFont typeface="Calibri" panose="020F0502020204030204"/>
              <a:buNone/>
              <a:defRPr sz="2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a:endParaRPr/>
          </a:p>
        </p:txBody>
      </p:sp>
      <p:sp>
        <p:nvSpPr>
          <p:cNvPr id="52" name="Google Shape;52;p13"/>
          <p:cNvSpPr txBox="1">
            <a:spLocks noGrp="1"/>
          </p:cNvSpPr>
          <p:nvPr>
            <p:ph type="body" idx="1"/>
          </p:nvPr>
        </p:nvSpPr>
        <p:spPr>
          <a:xfrm>
            <a:off x="247500" y="2683333"/>
            <a:ext cx="3105000" cy="6396300"/>
          </a:xfrm>
          <a:prstGeom prst="rect">
            <a:avLst/>
          </a:prstGeom>
          <a:noFill/>
          <a:ln>
            <a:noFill/>
          </a:ln>
        </p:spPr>
        <p:txBody>
          <a:bodyPr spcFirstLastPara="1" wrap="square" lIns="86550" tIns="43250" rIns="86550" bIns="43250" anchor="t" anchorCtr="0">
            <a:normAutofit/>
          </a:bodyPr>
          <a:lstStyle>
            <a:lvl1pPr marL="457200" marR="0" lvl="0" indent="-311150" algn="l" rtl="0">
              <a:lnSpc>
                <a:spcPct val="90000"/>
              </a:lnSpc>
              <a:spcBef>
                <a:spcPts val="500"/>
              </a:spcBef>
              <a:spcAft>
                <a:spcPts val="0"/>
              </a:spcAft>
              <a:buClr>
                <a:schemeClr val="dk1"/>
              </a:buClr>
              <a:buSzPts val="1300"/>
              <a:buFont typeface="Arial" panose="020B0604020202090204"/>
              <a:buChar char="•"/>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04800" algn="l" rtl="0">
              <a:lnSpc>
                <a:spcPct val="90000"/>
              </a:lnSpc>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92100" algn="l" rtl="0">
              <a:lnSpc>
                <a:spcPct val="90000"/>
              </a:lnSpc>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3" name="Google Shape;53;p1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marR="0" lvl="0" algn="l"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4" name="Google Shape;54;p1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marR="0" lvl="0" algn="ctr"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5" name="Google Shape;55;p1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marR="0" lvl="0"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jpe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jpe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7.jpeg"/><Relationship Id="rId4" Type="http://schemas.openxmlformats.org/officeDocument/2006/relationships/image" Target="../media/image13.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42" name="Google Shape;142;p25"/>
          <p:cNvSpPr/>
          <p:nvPr/>
        </p:nvSpPr>
        <p:spPr>
          <a:xfrm>
            <a:off x="31129" y="3376868"/>
            <a:ext cx="3557905" cy="877245"/>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en-US" sz="1200" b="1" dirty="0">
                <a:solidFill>
                  <a:schemeClr val="lt1"/>
                </a:solidFill>
                <a:effectLst>
                  <a:outerShdw blurRad="373812" dist="38100" algn="l" rotWithShape="0">
                    <a:prstClr val="black"/>
                  </a:outerShdw>
                </a:effectLst>
                <a:latin typeface="Calibri" panose="020F0502020204030204"/>
                <a:cs typeface="Calibri" panose="020F0502020204030204"/>
              </a:rPr>
              <a:t>Orna Amster-Choder</a:t>
            </a:r>
          </a:p>
          <a:p>
            <a:r>
              <a:rPr lang="en-US" sz="800" b="1" dirty="0">
                <a:solidFill>
                  <a:schemeClr val="lt1"/>
                </a:solidFill>
                <a:effectLst>
                  <a:outerShdw blurRad="373812" dist="38100" algn="l" rotWithShape="0">
                    <a:prstClr val="black"/>
                  </a:outerShdw>
                </a:effectLst>
                <a:latin typeface="Calibri" panose="020F0502020204030204"/>
                <a:cs typeface="Calibri" panose="020F0502020204030204"/>
              </a:rPr>
              <a:t>Full Professor, Faculty of Medicine, Department of Microbiology and Molecular Genetics</a:t>
            </a: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 </a:t>
            </a:r>
            <a:r>
              <a:rPr lang="en-US" sz="800" b="1" dirty="0">
                <a:solidFill>
                  <a:schemeClr val="lt1"/>
                </a:solidFill>
                <a:effectLst>
                  <a:outerShdw blurRad="373812" dist="38100" algn="l" rotWithShape="0">
                    <a:prstClr val="black"/>
                  </a:outerShdw>
                </a:effectLst>
                <a:latin typeface="Calibri" panose="020F0502020204030204"/>
                <a:cs typeface="Calibri" panose="020F0502020204030204"/>
              </a:rPr>
              <a:t>– The Hebrew University, Jerusalem, Israel</a:t>
            </a:r>
          </a:p>
          <a:p>
            <a:endParaRPr lang="en-US" sz="8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13" name="TextBox 12"/>
          <p:cNvSpPr txBox="1"/>
          <p:nvPr/>
        </p:nvSpPr>
        <p:spPr>
          <a:xfrm>
            <a:off x="32385" y="3921800"/>
            <a:ext cx="3496310" cy="1854200"/>
          </a:xfrm>
          <a:prstGeom prst="rect">
            <a:avLst/>
          </a:prstGeom>
          <a:noFill/>
        </p:spPr>
        <p:txBody>
          <a:bodyPr wrap="square">
            <a:noAutofit/>
          </a:bodyPr>
          <a:lstStyle/>
          <a:p>
            <a:pPr algn="just"/>
            <a:r>
              <a:rPr lang="en-GB" sz="1000" b="1" dirty="0">
                <a:solidFill>
                  <a:schemeClr val="bg1"/>
                </a:solidFill>
                <a:effectLst>
                  <a:outerShdw blurRad="373812" dist="38100" algn="l" rotWithShape="0">
                    <a:prstClr val="black"/>
                  </a:outerShdw>
                </a:effectLst>
                <a:latin typeface="Calibri" panose="020F0502020204030204"/>
                <a:cs typeface="Calibri" panose="020F0502020204030204"/>
              </a:rPr>
              <a:t>Abstract:</a:t>
            </a:r>
          </a:p>
          <a:p>
            <a:pPr algn="just"/>
            <a:r>
              <a:rPr lang="en" altLang="zh-CN" sz="700" dirty="0">
                <a:solidFill>
                  <a:schemeClr val="bg1"/>
                </a:solidFill>
                <a:latin typeface="Microsoft YaHei UI" panose="020B0503020204020204" pitchFamily="34" charset="-122"/>
                <a:ea typeface="Microsoft YaHei UI" panose="020B0503020204020204" pitchFamily="34" charset="-122"/>
              </a:rPr>
              <a:t>Our finding that bacterial RNAs can localize to different cellular domains independently of translation (Science, 2011) challenged the dogma that transcription and translation are always coupled. Analysis of the E. coli transcriptome revealed that a significant fraction localizes asymmetrically, often correlating with proteome distribution and independent of translation (Mol. Cell, 2019). Notably, the polar transcriptome is unique, enriched in specific mRNAs and most small RNAs (sRNAs).</a:t>
            </a:r>
          </a:p>
          <a:p>
            <a:pPr algn="just"/>
            <a:r>
              <a:rPr lang="en" altLang="zh-CN" sz="700" dirty="0">
                <a:solidFill>
                  <a:schemeClr val="bg1"/>
                </a:solidFill>
                <a:latin typeface="Microsoft YaHei UI" panose="020B0503020204020204" pitchFamily="34" charset="-122"/>
                <a:ea typeface="Microsoft YaHei UI" panose="020B0503020204020204" pitchFamily="34" charset="-122"/>
              </a:rPr>
              <a:t>sRNA: We demonstrated a polygenic plan for sRNA-mediated regulation, explaining the subtle effects of specific sRNA deletions (</a:t>
            </a:r>
            <a:r>
              <a:rPr lang="en" altLang="zh-CN" sz="700" dirty="0" err="1">
                <a:solidFill>
                  <a:schemeClr val="bg1"/>
                </a:solidFill>
                <a:latin typeface="Microsoft YaHei UI" panose="020B0503020204020204" pitchFamily="34" charset="-122"/>
                <a:ea typeface="Microsoft YaHei UI" panose="020B0503020204020204" pitchFamily="34" charset="-122"/>
              </a:rPr>
              <a:t>iScience</a:t>
            </a:r>
            <a:r>
              <a:rPr lang="en" altLang="zh-CN" sz="700" dirty="0">
                <a:solidFill>
                  <a:schemeClr val="bg1"/>
                </a:solidFill>
                <a:latin typeface="Microsoft YaHei UI" panose="020B0503020204020204" pitchFamily="34" charset="-122"/>
                <a:ea typeface="Microsoft YaHei UI" panose="020B0503020204020204" pitchFamily="34" charset="-122"/>
              </a:rPr>
              <a:t>, 2021). We also found that sRNAs are accompanied by their chaperone </a:t>
            </a:r>
            <a:r>
              <a:rPr lang="en" altLang="zh-CN" sz="700" dirty="0" err="1">
                <a:solidFill>
                  <a:schemeClr val="bg1"/>
                </a:solidFill>
                <a:latin typeface="Microsoft YaHei UI" panose="020B0503020204020204" pitchFamily="34" charset="-122"/>
                <a:ea typeface="Microsoft YaHei UI" panose="020B0503020204020204" pitchFamily="34" charset="-122"/>
              </a:rPr>
              <a:t>Hfq</a:t>
            </a:r>
            <a:r>
              <a:rPr lang="en" altLang="zh-CN" sz="700" dirty="0">
                <a:solidFill>
                  <a:schemeClr val="bg1"/>
                </a:solidFill>
                <a:latin typeface="Microsoft YaHei UI" panose="020B0503020204020204" pitchFamily="34" charset="-122"/>
                <a:ea typeface="Microsoft YaHei UI" panose="020B0503020204020204" pitchFamily="34" charset="-122"/>
              </a:rPr>
              <a:t>, which undergoes phase separation at the poles, a process essential for its activity (Cell Rep, 2022). </a:t>
            </a:r>
            <a:r>
              <a:rPr lang="en" altLang="zh-CN" sz="700" dirty="0" err="1">
                <a:solidFill>
                  <a:schemeClr val="bg1"/>
                </a:solidFill>
                <a:latin typeface="Microsoft YaHei UI" panose="020B0503020204020204" pitchFamily="34" charset="-122"/>
                <a:ea typeface="Microsoft YaHei UI" panose="020B0503020204020204" pitchFamily="34" charset="-122"/>
              </a:rPr>
              <a:t>Multiomic</a:t>
            </a:r>
            <a:r>
              <a:rPr lang="en" altLang="zh-CN" sz="700" dirty="0">
                <a:solidFill>
                  <a:schemeClr val="bg1"/>
                </a:solidFill>
                <a:latin typeface="Microsoft YaHei UI" panose="020B0503020204020204" pitchFamily="34" charset="-122"/>
                <a:ea typeface="Microsoft YaHei UI" panose="020B0503020204020204" pitchFamily="34" charset="-122"/>
              </a:rPr>
              <a:t> analyses suggest compartmentalization of certain metabolic pathways, including ATP production, in these regions.</a:t>
            </a:r>
          </a:p>
          <a:p>
            <a:pPr algn="just"/>
            <a:r>
              <a:rPr lang="en" altLang="zh-CN" sz="700" dirty="0">
                <a:solidFill>
                  <a:schemeClr val="bg1"/>
                </a:solidFill>
                <a:latin typeface="Microsoft YaHei UI" panose="020B0503020204020204" pitchFamily="34" charset="-122"/>
                <a:ea typeface="Microsoft YaHei UI" panose="020B0503020204020204" pitchFamily="34" charset="-122"/>
              </a:rPr>
              <a:t>mRNA: We recently showed that the pole-to-pole oscillating </a:t>
            </a:r>
            <a:r>
              <a:rPr lang="en" altLang="zh-CN" sz="700" dirty="0" err="1">
                <a:solidFill>
                  <a:schemeClr val="bg1"/>
                </a:solidFill>
                <a:latin typeface="Microsoft YaHei UI" panose="020B0503020204020204" pitchFamily="34" charset="-122"/>
                <a:ea typeface="Microsoft YaHei UI" panose="020B0503020204020204" pitchFamily="34" charset="-122"/>
              </a:rPr>
              <a:t>MinD</a:t>
            </a:r>
            <a:r>
              <a:rPr lang="en" altLang="zh-CN" sz="700" dirty="0">
                <a:solidFill>
                  <a:schemeClr val="bg1"/>
                </a:solidFill>
                <a:latin typeface="Microsoft YaHei UI" panose="020B0503020204020204" pitchFamily="34" charset="-122"/>
                <a:ea typeface="Microsoft YaHei UI" panose="020B0503020204020204" pitchFamily="34" charset="-122"/>
              </a:rPr>
              <a:t> protein and RNase E control mRNA enrichment at the poles by preventing site-specific degradation. </a:t>
            </a:r>
            <a:r>
              <a:rPr lang="en" altLang="zh-CN" sz="700" dirty="0" err="1">
                <a:solidFill>
                  <a:schemeClr val="bg1"/>
                </a:solidFill>
                <a:latin typeface="Microsoft YaHei UI" panose="020B0503020204020204" pitchFamily="34" charset="-122"/>
                <a:ea typeface="Microsoft YaHei UI" panose="020B0503020204020204" pitchFamily="34" charset="-122"/>
              </a:rPr>
              <a:t>Mislocalization</a:t>
            </a:r>
            <a:r>
              <a:rPr lang="en" altLang="zh-CN" sz="700" dirty="0">
                <a:solidFill>
                  <a:schemeClr val="bg1"/>
                </a:solidFill>
                <a:latin typeface="Microsoft YaHei UI" panose="020B0503020204020204" pitchFamily="34" charset="-122"/>
                <a:ea typeface="Microsoft YaHei UI" panose="020B0503020204020204" pitchFamily="34" charset="-122"/>
              </a:rPr>
              <a:t> of polar mRNAs may disrupt protein localization, indicating localized translation in bacteria (EMBO J, 2024).</a:t>
            </a:r>
          </a:p>
          <a:p>
            <a:pPr algn="just"/>
            <a:r>
              <a:rPr lang="en" altLang="zh-CN" sz="700" dirty="0">
                <a:solidFill>
                  <a:schemeClr val="bg1"/>
                </a:solidFill>
                <a:latin typeface="Microsoft YaHei UI" panose="020B0503020204020204" pitchFamily="34" charset="-122"/>
                <a:ea typeface="Microsoft YaHei UI" panose="020B0503020204020204" pitchFamily="34" charset="-122"/>
              </a:rPr>
              <a:t>Coupled transcription-translation (CTT): We developed a method to map the transcriptome-wide CTT landscape in three model organisms at near-single codon resolution. Our results indicate that significant gene expression occurs without CTT and identify factors influencing CTT dynamics.</a:t>
            </a:r>
          </a:p>
          <a:p>
            <a:pPr algn="just"/>
            <a:endParaRPr lang="en-US" altLang="zh-CN" sz="700" dirty="0">
              <a:solidFill>
                <a:schemeClr val="bg1"/>
              </a:solidFill>
              <a:latin typeface="Microsoft YaHei UI" panose="020B0503020204020204" pitchFamily="34" charset="-122"/>
              <a:ea typeface="Microsoft YaHei UI" panose="020B0503020204020204" pitchFamily="34" charset="-122"/>
            </a:endParaRPr>
          </a:p>
        </p:txBody>
      </p:sp>
      <p:sp>
        <p:nvSpPr>
          <p:cNvPr id="9" name="Google Shape;133;p25"/>
          <p:cNvSpPr/>
          <p:nvPr/>
        </p:nvSpPr>
        <p:spPr>
          <a:xfrm>
            <a:off x="-48895" y="919995"/>
            <a:ext cx="3658870" cy="354965"/>
          </a:xfrm>
          <a:prstGeom prst="rect">
            <a:avLst/>
          </a:prstGeom>
          <a:noFill/>
          <a:ln>
            <a:noFill/>
          </a:ln>
        </p:spPr>
        <p:txBody>
          <a:bodyPr spcFirstLastPara="1" wrap="square" lIns="86550" tIns="43250" rIns="86550" bIns="43250" anchor="ctr" anchorCtr="0">
            <a:noAutofit/>
          </a:bodyPr>
          <a:lstStyle/>
          <a:p>
            <a:pPr lvl="0" algn="ctr"/>
            <a:r>
              <a:rPr lang="en-US" sz="1000" b="1" dirty="0">
                <a:solidFill>
                  <a:schemeClr val="bg1"/>
                </a:solidFill>
                <a:effectLst>
                  <a:outerShdw blurRad="373812" dist="38100" algn="l" rotWithShape="0">
                    <a:prstClr val="black"/>
                  </a:outerShdw>
                </a:effectLst>
                <a:latin typeface="+mn-lt"/>
                <a:cs typeface="Arial" panose="020B0604020202090204" pitchFamily="34" charset="0"/>
                <a:sym typeface="Calibri" panose="020F0502020204030204"/>
              </a:rPr>
              <a:t>Revisiting the dogma on bacterial transcriptome organization: implications on gene expression</a:t>
            </a:r>
          </a:p>
        </p:txBody>
      </p:sp>
      <p:sp>
        <p:nvSpPr>
          <p:cNvPr id="10" name="Google Shape;138;p25"/>
          <p:cNvSpPr txBox="1"/>
          <p:nvPr/>
        </p:nvSpPr>
        <p:spPr>
          <a:xfrm>
            <a:off x="1679453" y="1235194"/>
            <a:ext cx="1782413" cy="1934004"/>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en-US" altLang="zh-CN" sz="800" b="1" dirty="0">
                <a:solidFill>
                  <a:schemeClr val="bg1"/>
                </a:solidFill>
              </a:rPr>
              <a:t>Time (IST):</a:t>
            </a:r>
            <a:r>
              <a:rPr lang="zh-CN" altLang="en-US" sz="800" b="1" dirty="0">
                <a:solidFill>
                  <a:schemeClr val="bg1"/>
                </a:solidFill>
              </a:rPr>
              <a:t> </a:t>
            </a:r>
            <a:r>
              <a:rPr lang="en-US" altLang="zh-CN" sz="800" b="1" dirty="0">
                <a:solidFill>
                  <a:schemeClr val="bg1"/>
                </a:solidFill>
              </a:rPr>
              <a:t>    2025-03-27</a:t>
            </a:r>
            <a:r>
              <a:rPr lang="zh-CN" altLang="en-US" sz="800" b="1" dirty="0">
                <a:solidFill>
                  <a:schemeClr val="bg1"/>
                </a:solidFill>
              </a:rPr>
              <a:t> </a:t>
            </a:r>
            <a:r>
              <a:rPr lang="en-US" altLang="zh-CN" sz="800" b="1" dirty="0">
                <a:solidFill>
                  <a:schemeClr val="bg1"/>
                </a:solidFill>
              </a:rPr>
              <a:t>10:00</a:t>
            </a:r>
          </a:p>
          <a:p>
            <a:pPr>
              <a:lnSpc>
                <a:spcPct val="150000"/>
              </a:lnSpc>
            </a:pPr>
            <a:r>
              <a:rPr lang="zh-CN" sz="800" b="1" dirty="0">
                <a:solidFill>
                  <a:schemeClr val="bg1"/>
                </a:solidFill>
              </a:rPr>
              <a:t>Time</a:t>
            </a:r>
            <a:r>
              <a:rPr lang="en-US" altLang="zh-CN" sz="800" b="1" dirty="0">
                <a:solidFill>
                  <a:schemeClr val="bg1"/>
                </a:solidFill>
              </a:rPr>
              <a:t> (China):</a:t>
            </a:r>
            <a:r>
              <a:rPr lang="zh-CN" altLang="en-US" sz="800" b="1" dirty="0">
                <a:solidFill>
                  <a:schemeClr val="bg1"/>
                </a:solidFill>
              </a:rPr>
              <a:t> </a:t>
            </a:r>
            <a:r>
              <a:rPr lang="zh-CN" sz="800" b="1" dirty="0">
                <a:solidFill>
                  <a:schemeClr val="bg1"/>
                </a:solidFill>
              </a:rPr>
              <a:t>202</a:t>
            </a:r>
            <a:r>
              <a:rPr lang="en-GB" altLang="zh-CN" sz="800" b="1" dirty="0">
                <a:solidFill>
                  <a:schemeClr val="bg1"/>
                </a:solidFill>
              </a:rPr>
              <a:t>5</a:t>
            </a:r>
            <a:r>
              <a:rPr lang="zh-CN" sz="800" b="1" dirty="0">
                <a:solidFill>
                  <a:schemeClr val="bg1"/>
                </a:solidFill>
              </a:rPr>
              <a:t>-</a:t>
            </a:r>
            <a:r>
              <a:rPr lang="en-US" altLang="zh-CN" sz="800" b="1" dirty="0">
                <a:solidFill>
                  <a:schemeClr val="bg1"/>
                </a:solidFill>
              </a:rPr>
              <a:t>03-27</a:t>
            </a:r>
            <a:r>
              <a:rPr lang="zh-CN" altLang="en-US" sz="800" b="1" dirty="0">
                <a:solidFill>
                  <a:schemeClr val="bg1"/>
                </a:solidFill>
              </a:rPr>
              <a:t> </a:t>
            </a:r>
            <a:r>
              <a:rPr lang="en-US" altLang="zh-CN" sz="800" b="1" dirty="0">
                <a:solidFill>
                  <a:schemeClr val="bg1"/>
                </a:solidFill>
              </a:rPr>
              <a:t>16</a:t>
            </a:r>
            <a:r>
              <a:rPr lang="zh-CN" sz="800" b="1" dirty="0">
                <a:solidFill>
                  <a:schemeClr val="bg1"/>
                </a:solidFill>
              </a:rPr>
              <a:t>:00 </a:t>
            </a:r>
            <a:endParaRPr lang="en-US" altLang="zh-CN" sz="800" b="1" dirty="0">
              <a:solidFill>
                <a:schemeClr val="bg1"/>
              </a:solidFill>
              <a:latin typeface="Calibri" panose="020F0502020204030204"/>
              <a:ea typeface="Calibri" panose="020F0502020204030204"/>
              <a:cs typeface="Calibri" panose="020F0502020204030204"/>
              <a:sym typeface="Calibri" panose="020F0502020204030204"/>
            </a:endParaRPr>
          </a:p>
          <a:p>
            <a:pPr>
              <a:lnSpc>
                <a:spcPct val="150000"/>
              </a:lnSpc>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Zoom ID</a:t>
            </a: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 893 0005 4861</a:t>
            </a:r>
          </a:p>
          <a:p>
            <a:pPr>
              <a:lnSpc>
                <a:spcPct val="150000"/>
              </a:lnSpc>
            </a:pP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Passcode: 123456</a:t>
            </a:r>
          </a:p>
          <a:p>
            <a:pPr>
              <a:lnSpc>
                <a:spcPct val="150000"/>
              </a:lnSpc>
            </a:pPr>
            <a:r>
              <a:rPr lang="en-GB" sz="800" b="1" dirty="0">
                <a:solidFill>
                  <a:schemeClr val="bg1"/>
                </a:solidFill>
                <a:latin typeface="Calibri" panose="020F0502020204030204"/>
                <a:cs typeface="Calibri" panose="020F0502020204030204"/>
                <a:sym typeface="Calibri" panose="020F0502020204030204"/>
              </a:rPr>
              <a:t>Zoom meeting link: https://us06web.zoom.us/j/89300054861?pwd=TZbjJuSwrz4lTdg8yKCwDKKDDzqwNe.1 </a:t>
            </a:r>
          </a:p>
          <a:p>
            <a:pPr>
              <a:lnSpc>
                <a:spcPct val="150000"/>
              </a:lnSpc>
            </a:pPr>
            <a:r>
              <a:rPr lang="en-GB" altLang="zh-CN" sz="800" b="1" dirty="0" err="1">
                <a:solidFill>
                  <a:schemeClr val="bg1"/>
                </a:solidFill>
                <a:latin typeface="Calibri" panose="020F0502020204030204"/>
                <a:ea typeface="Calibri" panose="020F0502020204030204"/>
                <a:cs typeface="Calibri" panose="020F0502020204030204"/>
                <a:sym typeface="Calibri" panose="020F0502020204030204"/>
              </a:rPr>
              <a:t>Bilibili</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a:t>
            </a: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https://</a:t>
            </a:r>
            <a:r>
              <a:rPr lang="en-US" altLang="zh-CN" sz="800" b="1" dirty="0" err="1">
                <a:solidFill>
                  <a:schemeClr val="bg1"/>
                </a:solidFill>
                <a:latin typeface="Calibri" panose="020F0502020204030204"/>
                <a:ea typeface="Calibri" panose="020F0502020204030204"/>
                <a:cs typeface="Calibri" panose="020F0502020204030204"/>
                <a:sym typeface="Calibri" panose="020F0502020204030204"/>
              </a:rPr>
              <a:t>live.bilibili.com</a:t>
            </a: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/26427894</a:t>
            </a:r>
            <a:endParaRPr lang="en-GB" altLang="zh-CN" sz="800" b="1" dirty="0">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21" name="Google Shape;143;p25"/>
          <p:cNvSpPr/>
          <p:nvPr/>
        </p:nvSpPr>
        <p:spPr>
          <a:xfrm>
            <a:off x="849125" y="6579230"/>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HOST</a:t>
            </a: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a:t>
            </a: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PANELIST</a:t>
            </a:r>
            <a:r>
              <a:rPr lang="en-GB"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S</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25" name="Google Shape;142;p25"/>
          <p:cNvSpPr/>
          <p:nvPr/>
        </p:nvSpPr>
        <p:spPr>
          <a:xfrm>
            <a:off x="-472226" y="9165109"/>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700" b="1" dirty="0">
                <a:solidFill>
                  <a:schemeClr val="lt1"/>
                </a:solidFill>
                <a:effectLst>
                  <a:outerShdw blurRad="373812" dist="38100" algn="l" rotWithShape="0">
                    <a:prstClr val="black"/>
                  </a:outerShdw>
                </a:effectLst>
                <a:latin typeface="Calibri" panose="020F0502020204030204"/>
                <a:cs typeface="Calibri" panose="020F0502020204030204"/>
              </a:rPr>
              <a:t>Sponsors</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6" name="Google Shape;159;p25">
            <a:extLst>
              <a:ext uri="{FF2B5EF4-FFF2-40B4-BE49-F238E27FC236}">
                <a16:creationId xmlns:a16="http://schemas.microsoft.com/office/drawing/2014/main" id="{7B102368-D23E-8CA9-829D-3FB6E3F91141}"/>
              </a:ext>
            </a:extLst>
          </p:cNvPr>
          <p:cNvSpPr txBox="1"/>
          <p:nvPr/>
        </p:nvSpPr>
        <p:spPr>
          <a:xfrm>
            <a:off x="1217004" y="7531503"/>
            <a:ext cx="1166442"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a:solidFill>
                  <a:schemeClr val="bg1"/>
                </a:solidFill>
              </a:rPr>
              <a:t>Host: </a:t>
            </a:r>
            <a:r>
              <a:rPr lang="en-US" altLang="zh-CN" sz="800" b="1" dirty="0" err="1">
                <a:solidFill>
                  <a:schemeClr val="bg1"/>
                </a:solidFill>
              </a:rPr>
              <a:t>Zhichao</a:t>
            </a:r>
            <a:r>
              <a:rPr lang="en-US" altLang="zh-CN" sz="800" b="1" dirty="0">
                <a:solidFill>
                  <a:schemeClr val="bg1"/>
                </a:solidFill>
              </a:rPr>
              <a:t> Miao</a:t>
            </a:r>
          </a:p>
          <a:p>
            <a:pPr marL="0" lvl="0" indent="0" algn="ctr" rtl="0">
              <a:lnSpc>
                <a:spcPct val="115000"/>
              </a:lnSpc>
              <a:spcBef>
                <a:spcPts val="0"/>
              </a:spcBef>
              <a:spcAft>
                <a:spcPts val="0"/>
              </a:spcAft>
              <a:buNone/>
            </a:pPr>
            <a:r>
              <a:rPr lang="en-US" sz="500" i="1" dirty="0">
                <a:solidFill>
                  <a:schemeClr val="bg1"/>
                </a:solidFill>
              </a:rPr>
              <a:t>Guangzhou Laboratory</a:t>
            </a:r>
          </a:p>
          <a:p>
            <a:pPr marL="0" lvl="0" indent="0" algn="ctr" rtl="0">
              <a:lnSpc>
                <a:spcPct val="115000"/>
              </a:lnSpc>
              <a:spcBef>
                <a:spcPts val="0"/>
              </a:spcBef>
              <a:spcAft>
                <a:spcPts val="0"/>
              </a:spcAft>
              <a:buNone/>
            </a:pPr>
            <a:r>
              <a:rPr lang="en-US" sz="500" i="1" dirty="0">
                <a:solidFill>
                  <a:schemeClr val="bg1"/>
                </a:solidFill>
              </a:rPr>
              <a:t>Guangzhou Medical University</a:t>
            </a:r>
          </a:p>
        </p:txBody>
      </p:sp>
      <p:grpSp>
        <p:nvGrpSpPr>
          <p:cNvPr id="15" name="Group 14">
            <a:extLst>
              <a:ext uri="{FF2B5EF4-FFF2-40B4-BE49-F238E27FC236}">
                <a16:creationId xmlns:a16="http://schemas.microsoft.com/office/drawing/2014/main" id="{3F89EAF7-DD6B-B647-93A3-4ABFC361B37E}"/>
              </a:ext>
            </a:extLst>
          </p:cNvPr>
          <p:cNvGrpSpPr/>
          <p:nvPr/>
        </p:nvGrpSpPr>
        <p:grpSpPr>
          <a:xfrm>
            <a:off x="1458225" y="6812362"/>
            <a:ext cx="684000" cy="792000"/>
            <a:chOff x="1538852" y="6748792"/>
            <a:chExt cx="684000" cy="792000"/>
          </a:xfrm>
        </p:grpSpPr>
        <p:sp>
          <p:nvSpPr>
            <p:cNvPr id="39" name="Oval 19">
              <a:extLst>
                <a:ext uri="{FF2B5EF4-FFF2-40B4-BE49-F238E27FC236}">
                  <a16:creationId xmlns:a16="http://schemas.microsoft.com/office/drawing/2014/main" id="{E0D260ED-78FB-40B4-BABB-0335F8CAC325}"/>
                </a:ext>
              </a:extLst>
            </p:cNvPr>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3">
              <a:extLst>
                <a:ext uri="{FF2B5EF4-FFF2-40B4-BE49-F238E27FC236}">
                  <a16:creationId xmlns:a16="http://schemas.microsoft.com/office/drawing/2014/main" id="{755EF7DA-2A43-4E8C-AC7C-B88BC4A70FB2}"/>
                </a:ext>
              </a:extLst>
            </p:cNvPr>
            <p:cNvPicPr>
              <a:picLocks noChangeAspect="1"/>
            </p:cNvPicPr>
            <p:nvPr/>
          </p:nvPicPr>
          <p:blipFill rotWithShape="1">
            <a:blip r:embed="rId3"/>
            <a:srcRect l="10920" t="7031" r="9268" b="33081"/>
            <a:stretch/>
          </p:blipFill>
          <p:spPr>
            <a:xfrm>
              <a:off x="1562298" y="6786251"/>
              <a:ext cx="637108" cy="717083"/>
            </a:xfrm>
            <a:prstGeom prst="ellipse">
              <a:avLst/>
            </a:prstGeom>
          </p:spPr>
        </p:pic>
      </p:grpSp>
      <p:pic>
        <p:nvPicPr>
          <p:cNvPr id="44" name="Picture 43">
            <a:extLst>
              <a:ext uri="{FF2B5EF4-FFF2-40B4-BE49-F238E27FC236}">
                <a16:creationId xmlns:a16="http://schemas.microsoft.com/office/drawing/2014/main" id="{8FD00A4F-0432-4E43-ACC2-8576AAF6758F}"/>
              </a:ext>
            </a:extLst>
          </p:cNvPr>
          <p:cNvPicPr>
            <a:picLocks noChangeAspect="1"/>
          </p:cNvPicPr>
          <p:nvPr/>
        </p:nvPicPr>
        <p:blipFill>
          <a:blip r:embed="rId4"/>
          <a:stretch>
            <a:fillRect/>
          </a:stretch>
        </p:blipFill>
        <p:spPr>
          <a:xfrm>
            <a:off x="2903025" y="3153196"/>
            <a:ext cx="558841" cy="558841"/>
          </a:xfrm>
          <a:prstGeom prst="rect">
            <a:avLst/>
          </a:prstGeom>
        </p:spPr>
      </p:pic>
      <p:grpSp>
        <p:nvGrpSpPr>
          <p:cNvPr id="2" name="Group 1">
            <a:extLst>
              <a:ext uri="{FF2B5EF4-FFF2-40B4-BE49-F238E27FC236}">
                <a16:creationId xmlns:a16="http://schemas.microsoft.com/office/drawing/2014/main" id="{5E291B94-AF5A-CD48-A367-DF988CF2D367}"/>
              </a:ext>
            </a:extLst>
          </p:cNvPr>
          <p:cNvGrpSpPr/>
          <p:nvPr/>
        </p:nvGrpSpPr>
        <p:grpSpPr>
          <a:xfrm>
            <a:off x="589277" y="8006902"/>
            <a:ext cx="2441608" cy="1341941"/>
            <a:chOff x="121735" y="7920521"/>
            <a:chExt cx="2441608" cy="1341941"/>
          </a:xfrm>
        </p:grpSpPr>
        <p:sp>
          <p:nvSpPr>
            <p:cNvPr id="114" name="Google Shape;160;p25">
              <a:extLst>
                <a:ext uri="{FF2B5EF4-FFF2-40B4-BE49-F238E27FC236}">
                  <a16:creationId xmlns:a16="http://schemas.microsoft.com/office/drawing/2014/main" id="{A7150563-C19E-5A44-91D6-1111426CD3F8}"/>
                </a:ext>
              </a:extLst>
            </p:cNvPr>
            <p:cNvSpPr txBox="1"/>
            <p:nvPr/>
          </p:nvSpPr>
          <p:spPr>
            <a:xfrm>
              <a:off x="121735" y="8759278"/>
              <a:ext cx="9016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en-US" altLang="zh-CN" sz="800" b="1" dirty="0" err="1">
                  <a:solidFill>
                    <a:schemeClr val="bg1"/>
                  </a:solidFill>
                </a:rPr>
                <a:t>Jinkai</a:t>
              </a:r>
              <a:r>
                <a:rPr lang="en-US" altLang="zh-CN" sz="800" b="1" dirty="0">
                  <a:solidFill>
                    <a:schemeClr val="bg1"/>
                  </a:solidFill>
                </a:rPr>
                <a:t> Wang</a:t>
              </a: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p>
          </p:txBody>
        </p:sp>
        <p:grpSp>
          <p:nvGrpSpPr>
            <p:cNvPr id="115" name="Group 114">
              <a:extLst>
                <a:ext uri="{FF2B5EF4-FFF2-40B4-BE49-F238E27FC236}">
                  <a16:creationId xmlns:a16="http://schemas.microsoft.com/office/drawing/2014/main" id="{5605B7CC-69C3-CD4A-80C9-2D9B566D47E2}"/>
                </a:ext>
              </a:extLst>
            </p:cNvPr>
            <p:cNvGrpSpPr/>
            <p:nvPr/>
          </p:nvGrpSpPr>
          <p:grpSpPr>
            <a:xfrm>
              <a:off x="230571" y="7920521"/>
              <a:ext cx="684000" cy="792000"/>
              <a:chOff x="223454" y="7916097"/>
              <a:chExt cx="684000" cy="792000"/>
            </a:xfrm>
          </p:grpSpPr>
          <p:sp>
            <p:nvSpPr>
              <p:cNvPr id="116" name="Oval 30">
                <a:extLst>
                  <a:ext uri="{FF2B5EF4-FFF2-40B4-BE49-F238E27FC236}">
                    <a16:creationId xmlns:a16="http://schemas.microsoft.com/office/drawing/2014/main" id="{F655BB0C-FDB0-0A43-9DBC-FB400BE30A8F}"/>
                  </a:ext>
                </a:extLst>
              </p:cNvPr>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7" name="Picture 23" descr="A person wearing glasses&#10;&#10;Description automatically generated with medium confidence">
                <a:extLst>
                  <a:ext uri="{FF2B5EF4-FFF2-40B4-BE49-F238E27FC236}">
                    <a16:creationId xmlns:a16="http://schemas.microsoft.com/office/drawing/2014/main" id="{4898130C-05CD-AA44-A2C0-D399D8326B5C}"/>
                  </a:ext>
                </a:extLst>
              </p:cNvPr>
              <p:cNvPicPr>
                <a:picLocks noChangeAspect="1"/>
              </p:cNvPicPr>
              <p:nvPr/>
            </p:nvPicPr>
            <p:blipFill>
              <a:blip r:embed="rId5"/>
              <a:srcRect r="96"/>
              <a:stretch>
                <a:fillRect/>
              </a:stretch>
            </p:blipFill>
            <p:spPr>
              <a:xfrm>
                <a:off x="266200" y="7954014"/>
                <a:ext cx="598508" cy="7200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112" name="Oval 22">
              <a:extLst>
                <a:ext uri="{FF2B5EF4-FFF2-40B4-BE49-F238E27FC236}">
                  <a16:creationId xmlns:a16="http://schemas.microsoft.com/office/drawing/2014/main" id="{5EB4204D-B4AF-6F46-B564-ECD1F5D63C89}"/>
                </a:ext>
              </a:extLst>
            </p:cNvPr>
            <p:cNvSpPr/>
            <p:nvPr/>
          </p:nvSpPr>
          <p:spPr>
            <a:xfrm>
              <a:off x="1769543"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Google Shape;160;p25">
              <a:extLst>
                <a:ext uri="{FF2B5EF4-FFF2-40B4-BE49-F238E27FC236}">
                  <a16:creationId xmlns:a16="http://schemas.microsoft.com/office/drawing/2014/main" id="{19B3731F-60C9-B542-BED5-0A6A1CAC52F7}"/>
                </a:ext>
              </a:extLst>
            </p:cNvPr>
            <p:cNvSpPr txBox="1"/>
            <p:nvPr/>
          </p:nvSpPr>
          <p:spPr>
            <a:xfrm>
              <a:off x="890257" y="8759278"/>
              <a:ext cx="901672"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en-US" sz="800" b="1" dirty="0" err="1">
                  <a:solidFill>
                    <a:schemeClr val="bg1"/>
                  </a:solidFill>
                </a:rPr>
                <a:t>Zongfu</a:t>
              </a:r>
              <a:r>
                <a:rPr lang="en-US" sz="800" b="1" dirty="0">
                  <a:solidFill>
                    <a:schemeClr val="bg1"/>
                  </a:solidFill>
                </a:rPr>
                <a:t> Wu</a:t>
              </a:r>
            </a:p>
            <a:p>
              <a:pPr lvl="0" algn="ctr">
                <a:lnSpc>
                  <a:spcPct val="115000"/>
                </a:lnSpc>
              </a:pPr>
              <a:r>
                <a:rPr lang="en-US" sz="500" i="1" dirty="0">
                  <a:solidFill>
                    <a:schemeClr val="bg1"/>
                  </a:solidFill>
                </a:rPr>
                <a:t>Nanjing Agricultural University</a:t>
              </a:r>
            </a:p>
          </p:txBody>
        </p:sp>
        <p:sp>
          <p:nvSpPr>
            <p:cNvPr id="108" name="Oval 25">
              <a:extLst>
                <a:ext uri="{FF2B5EF4-FFF2-40B4-BE49-F238E27FC236}">
                  <a16:creationId xmlns:a16="http://schemas.microsoft.com/office/drawing/2014/main" id="{4BD74EAB-4620-D641-BBAE-00D1F0E8B9B5}"/>
                </a:ext>
              </a:extLst>
            </p:cNvPr>
            <p:cNvSpPr/>
            <p:nvPr/>
          </p:nvSpPr>
          <p:spPr>
            <a:xfrm>
              <a:off x="1000057"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5" name="Picture 42" descr="A person wearing glasses and a suit&#10;&#10;Description automatically generated with medium confidence">
              <a:extLst>
                <a:ext uri="{FF2B5EF4-FFF2-40B4-BE49-F238E27FC236}">
                  <a16:creationId xmlns:a16="http://schemas.microsoft.com/office/drawing/2014/main" id="{047AFCAF-BF06-AE4E-A959-32102B6FA042}"/>
                </a:ext>
              </a:extLst>
            </p:cNvPr>
            <p:cNvPicPr>
              <a:picLocks noChangeAspect="1"/>
            </p:cNvPicPr>
            <p:nvPr/>
          </p:nvPicPr>
          <p:blipFill>
            <a:blip r:embed="rId6"/>
            <a:srcRect r="400" b="308"/>
            <a:stretch>
              <a:fillRect/>
            </a:stretch>
          </p:blipFill>
          <p:spPr>
            <a:xfrm>
              <a:off x="1808486" y="7974331"/>
              <a:ext cx="607989" cy="72000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103" name="Google Shape;160;p25">
              <a:extLst>
                <a:ext uri="{FF2B5EF4-FFF2-40B4-BE49-F238E27FC236}">
                  <a16:creationId xmlns:a16="http://schemas.microsoft.com/office/drawing/2014/main" id="{EA0B0E5D-AFD5-0444-9E34-A37844F6E669}"/>
                </a:ext>
              </a:extLst>
            </p:cNvPr>
            <p:cNvSpPr txBox="1"/>
            <p:nvPr/>
          </p:nvSpPr>
          <p:spPr>
            <a:xfrm>
              <a:off x="1659743" y="8750429"/>
              <a:ext cx="903600" cy="432396"/>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en-US" altLang="zh-CN" sz="900" b="1" dirty="0">
                  <a:solidFill>
                    <a:schemeClr val="bg1"/>
                  </a:solidFill>
                </a:rPr>
                <a:t>Lin</a:t>
              </a:r>
              <a:r>
                <a:rPr lang="zh-CN" altLang="en-US" sz="900" b="1" dirty="0">
                  <a:solidFill>
                    <a:schemeClr val="bg1"/>
                  </a:solidFill>
                </a:rPr>
                <a:t> </a:t>
              </a:r>
              <a:r>
                <a:rPr lang="en-US" altLang="zh-CN" sz="900" b="1" dirty="0">
                  <a:solidFill>
                    <a:schemeClr val="bg1"/>
                  </a:solidFill>
                </a:rPr>
                <a:t>Huang</a:t>
              </a: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p>
          </p:txBody>
        </p:sp>
      </p:grpSp>
      <p:pic>
        <p:nvPicPr>
          <p:cNvPr id="1028" name="Picture 4">
            <a:extLst>
              <a:ext uri="{FF2B5EF4-FFF2-40B4-BE49-F238E27FC236}">
                <a16:creationId xmlns:a16="http://schemas.microsoft.com/office/drawing/2014/main" id="{CA5E7666-DD26-E2FC-F41D-FCC15F4751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8703" y="8049366"/>
            <a:ext cx="599251" cy="720000"/>
          </a:xfrm>
          <a:prstGeom prst="ellipse">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0C5FEDE9-D0AC-6CC1-1F09-DFA47AB10C35}"/>
              </a:ext>
            </a:extLst>
          </p:cNvPr>
          <p:cNvGrpSpPr/>
          <p:nvPr/>
        </p:nvGrpSpPr>
        <p:grpSpPr>
          <a:xfrm>
            <a:off x="2259471" y="3153196"/>
            <a:ext cx="558842" cy="558842"/>
            <a:chOff x="1980226" y="3246392"/>
            <a:chExt cx="558842" cy="558842"/>
          </a:xfrm>
        </p:grpSpPr>
        <p:pic>
          <p:nvPicPr>
            <p:cNvPr id="7" name="Picture 6">
              <a:extLst>
                <a:ext uri="{FF2B5EF4-FFF2-40B4-BE49-F238E27FC236}">
                  <a16:creationId xmlns:a16="http://schemas.microsoft.com/office/drawing/2014/main" id="{3E809BF6-E3F0-797A-5B6F-880C54ED7D2D}"/>
                </a:ext>
              </a:extLst>
            </p:cNvPr>
            <p:cNvPicPr>
              <a:picLocks noChangeAspect="1"/>
            </p:cNvPicPr>
            <p:nvPr/>
          </p:nvPicPr>
          <p:blipFill>
            <a:blip r:embed="rId8"/>
            <a:stretch>
              <a:fillRect/>
            </a:stretch>
          </p:blipFill>
          <p:spPr>
            <a:xfrm>
              <a:off x="1980226" y="3246392"/>
              <a:ext cx="558842" cy="558842"/>
            </a:xfrm>
            <a:prstGeom prst="rect">
              <a:avLst/>
            </a:prstGeom>
          </p:spPr>
        </p:pic>
        <p:pic>
          <p:nvPicPr>
            <p:cNvPr id="8" name="图片 26" descr="WechatIMG46">
              <a:extLst>
                <a:ext uri="{FF2B5EF4-FFF2-40B4-BE49-F238E27FC236}">
                  <a16:creationId xmlns:a16="http://schemas.microsoft.com/office/drawing/2014/main" id="{AC86AD5F-CEC8-438D-4D12-D6137DDE35D4}"/>
                </a:ext>
              </a:extLst>
            </p:cNvPr>
            <p:cNvPicPr>
              <a:picLocks noChangeAspect="1"/>
            </p:cNvPicPr>
            <p:nvPr/>
          </p:nvPicPr>
          <p:blipFill>
            <a:blip r:embed="rId9"/>
            <a:stretch>
              <a:fillRect/>
            </a:stretch>
          </p:blipFill>
          <p:spPr>
            <a:xfrm>
              <a:off x="2110207" y="3463356"/>
              <a:ext cx="249555" cy="71755"/>
            </a:xfrm>
            <a:prstGeom prst="rect">
              <a:avLst/>
            </a:prstGeom>
          </p:spPr>
        </p:pic>
      </p:grpSp>
      <p:pic>
        <p:nvPicPr>
          <p:cNvPr id="3" name="图片 2">
            <a:extLst>
              <a:ext uri="{FF2B5EF4-FFF2-40B4-BE49-F238E27FC236}">
                <a16:creationId xmlns:a16="http://schemas.microsoft.com/office/drawing/2014/main" id="{FD451CAF-177D-B26E-CFA1-1082809860FF}"/>
              </a:ext>
            </a:extLst>
          </p:cNvPr>
          <p:cNvPicPr>
            <a:picLocks noChangeAspect="1"/>
          </p:cNvPicPr>
          <p:nvPr/>
        </p:nvPicPr>
        <p:blipFill>
          <a:blip r:embed="rId10"/>
          <a:srcRect l="10898" r="8819"/>
          <a:stretch/>
        </p:blipFill>
        <p:spPr>
          <a:xfrm>
            <a:off x="138584" y="1399241"/>
            <a:ext cx="1637322" cy="20394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3" name="Google Shape;133;p25"/>
          <p:cNvSpPr/>
          <p:nvPr/>
        </p:nvSpPr>
        <p:spPr>
          <a:xfrm>
            <a:off x="-64254" y="949471"/>
            <a:ext cx="3674229" cy="355217"/>
          </a:xfrm>
          <a:prstGeom prst="rect">
            <a:avLst/>
          </a:prstGeom>
          <a:noFill/>
          <a:ln>
            <a:noFill/>
          </a:ln>
        </p:spPr>
        <p:txBody>
          <a:bodyPr spcFirstLastPara="1" wrap="square" lIns="86550" tIns="43250" rIns="86550" bIns="43250" anchor="ctr" anchorCtr="0">
            <a:noAutofit/>
          </a:bodyPr>
          <a:lstStyle/>
          <a:p>
            <a:pPr algn="ctr"/>
            <a:r>
              <a:rPr lang="zh-CN" altLang="en-US" b="1" dirty="0">
                <a:solidFill>
                  <a:schemeClr val="bg1"/>
                </a:solidFill>
                <a:effectLst>
                  <a:outerShdw blurRad="373812" dist="38100" algn="l" rotWithShape="0">
                    <a:prstClr val="black"/>
                  </a:outerShdw>
                </a:effectLst>
                <a:latin typeface="Calibri" panose="020F0502020204030204"/>
                <a:cs typeface="Calibri" panose="020F0502020204030204"/>
                <a:sym typeface="Calibri" panose="020F0502020204030204"/>
              </a:rPr>
              <a:t>重新审视细菌转录组组织的传统观点：对基因表达的启示</a:t>
            </a:r>
            <a:endParaRPr lang="zh-CN" b="1" dirty="0">
              <a:solidFill>
                <a:schemeClr val="bg1"/>
              </a:solidFill>
              <a:effectLst>
                <a:outerShdw blurRad="373812" dist="38100" algn="l" rotWithShape="0">
                  <a:prstClr val="black"/>
                </a:outerShdw>
              </a:effectLst>
              <a:latin typeface="Calibri" panose="020F0502020204030204"/>
              <a:cs typeface="Calibri" panose="020F0502020204030204"/>
              <a:sym typeface="Calibri" panose="020F0502020204030204"/>
            </a:endParaRPr>
          </a:p>
        </p:txBody>
      </p:sp>
      <p:sp>
        <p:nvSpPr>
          <p:cNvPr id="10" name="TextBox 9"/>
          <p:cNvSpPr txBox="1"/>
          <p:nvPr/>
        </p:nvSpPr>
        <p:spPr>
          <a:xfrm>
            <a:off x="30466" y="3933035"/>
            <a:ext cx="3538855" cy="1969770"/>
          </a:xfrm>
          <a:prstGeom prst="rect">
            <a:avLst/>
          </a:prstGeom>
          <a:noFill/>
        </p:spPr>
        <p:txBody>
          <a:bodyPr wrap="square">
            <a:noAutofit/>
          </a:bodyPr>
          <a:lstStyle/>
          <a:p>
            <a:r>
              <a:rPr lang="zh-CN" altLang="en-US" sz="1000" b="1" dirty="0">
                <a:solidFill>
                  <a:schemeClr val="bg1"/>
                </a:solidFill>
                <a:effectLst>
                  <a:outerShdw blurRad="373812" dist="38100" algn="l" rotWithShape="0">
                    <a:prstClr val="black"/>
                  </a:outerShdw>
                </a:effectLst>
                <a:latin typeface="Calibri" panose="020F0502020204030204"/>
                <a:ea typeface="SimHei" pitchFamily="49" charset="-122"/>
                <a:cs typeface="Calibri" panose="020F0502020204030204"/>
              </a:rPr>
              <a:t>摘要</a:t>
            </a:r>
            <a:r>
              <a:rPr lang="zh-CN" altLang="en-US" sz="1000" dirty="0">
                <a:solidFill>
                  <a:schemeClr val="bg1"/>
                </a:solidFill>
                <a:latin typeface="SimHei" pitchFamily="49" charset="-122"/>
                <a:ea typeface="SimHei" pitchFamily="49" charset="-122"/>
              </a:rPr>
              <a:t>：</a:t>
            </a:r>
          </a:p>
          <a:p>
            <a:pPr algn="just"/>
            <a:r>
              <a:rPr lang="zh-CN" altLang="en-US" sz="800" dirty="0">
                <a:solidFill>
                  <a:schemeClr val="bg1"/>
                </a:solidFill>
                <a:latin typeface="Microsoft YaHei UI" panose="020B0503020204020204" pitchFamily="34" charset="-122"/>
                <a:ea typeface="Microsoft YaHei UI" panose="020B0503020204020204" pitchFamily="34" charset="-122"/>
              </a:rPr>
              <a:t>我们的研究发现，细菌</a:t>
            </a:r>
            <a:r>
              <a:rPr lang="en" altLang="zh-CN" sz="800" dirty="0">
                <a:solidFill>
                  <a:schemeClr val="bg1"/>
                </a:solidFill>
                <a:latin typeface="Microsoft YaHei UI" panose="020B0503020204020204" pitchFamily="34" charset="-122"/>
                <a:ea typeface="Microsoft YaHei UI" panose="020B0503020204020204" pitchFamily="34" charset="-122"/>
              </a:rPr>
              <a:t>RNA</a:t>
            </a:r>
            <a:r>
              <a:rPr lang="zh-CN" altLang="en-US" sz="800" dirty="0">
                <a:solidFill>
                  <a:schemeClr val="bg1"/>
                </a:solidFill>
                <a:latin typeface="Microsoft YaHei UI" panose="020B0503020204020204" pitchFamily="34" charset="-122"/>
                <a:ea typeface="Microsoft YaHei UI" panose="020B0503020204020204" pitchFamily="34" charset="-122"/>
              </a:rPr>
              <a:t>可以在不同的细胞区域内定位，而不依赖于翻译（</a:t>
            </a:r>
            <a:r>
              <a:rPr lang="en" altLang="zh-CN" sz="800" dirty="0">
                <a:solidFill>
                  <a:schemeClr val="bg1"/>
                </a:solidFill>
                <a:latin typeface="Microsoft YaHei UI" panose="020B0503020204020204" pitchFamily="34" charset="-122"/>
                <a:ea typeface="Microsoft YaHei UI" panose="020B0503020204020204" pitchFamily="34" charset="-122"/>
              </a:rPr>
              <a:t>Science, 2011</a:t>
            </a:r>
            <a:r>
              <a:rPr lang="zh-CN" altLang="e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这一发现挑战了转录与翻译始终偶联的传统观点。对大肠杆菌（</a:t>
            </a:r>
            <a:r>
              <a:rPr lang="en" altLang="zh-CN" sz="800" dirty="0">
                <a:solidFill>
                  <a:schemeClr val="bg1"/>
                </a:solidFill>
                <a:latin typeface="Microsoft YaHei UI" panose="020B0503020204020204" pitchFamily="34" charset="-122"/>
                <a:ea typeface="Microsoft YaHei UI" panose="020B0503020204020204" pitchFamily="34" charset="-122"/>
              </a:rPr>
              <a:t>E. coli</a:t>
            </a:r>
            <a:r>
              <a:rPr lang="zh-CN" altLang="e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转录组的分析表明，相当一部分</a:t>
            </a:r>
            <a:r>
              <a:rPr lang="en" altLang="zh-CN" sz="800" dirty="0">
                <a:solidFill>
                  <a:schemeClr val="bg1"/>
                </a:solidFill>
                <a:latin typeface="Microsoft YaHei UI" panose="020B0503020204020204" pitchFamily="34" charset="-122"/>
                <a:ea typeface="Microsoft YaHei UI" panose="020B0503020204020204" pitchFamily="34" charset="-122"/>
              </a:rPr>
              <a:t>RNA</a:t>
            </a:r>
            <a:r>
              <a:rPr lang="zh-CN" altLang="en-US" sz="800" dirty="0">
                <a:solidFill>
                  <a:schemeClr val="bg1"/>
                </a:solidFill>
                <a:latin typeface="Microsoft YaHei UI" panose="020B0503020204020204" pitchFamily="34" charset="-122"/>
                <a:ea typeface="Microsoft YaHei UI" panose="020B0503020204020204" pitchFamily="34" charset="-122"/>
              </a:rPr>
              <a:t>呈现不对称定位，这种现象通常与蛋白质组分布相关，并且独立于翻译（</a:t>
            </a:r>
            <a:r>
              <a:rPr lang="en" altLang="zh-CN" sz="800" dirty="0">
                <a:solidFill>
                  <a:schemeClr val="bg1"/>
                </a:solidFill>
                <a:latin typeface="Microsoft YaHei UI" panose="020B0503020204020204" pitchFamily="34" charset="-122"/>
                <a:ea typeface="Microsoft YaHei UI" panose="020B0503020204020204" pitchFamily="34" charset="-122"/>
              </a:rPr>
              <a:t>Mol. Cell, 2019</a:t>
            </a:r>
            <a:r>
              <a:rPr lang="zh-CN" altLang="e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值得注意的是，极性转录组具有独特性，其中富含特定的</a:t>
            </a:r>
            <a:r>
              <a:rPr lang="en" altLang="zh-CN" sz="800" dirty="0">
                <a:solidFill>
                  <a:schemeClr val="bg1"/>
                </a:solidFill>
                <a:latin typeface="Microsoft YaHei UI" panose="020B0503020204020204" pitchFamily="34" charset="-122"/>
                <a:ea typeface="Microsoft YaHei UI" panose="020B0503020204020204" pitchFamily="34" charset="-122"/>
              </a:rPr>
              <a:t>mRNA</a:t>
            </a:r>
            <a:r>
              <a:rPr lang="zh-CN" altLang="en-US" sz="800" dirty="0">
                <a:solidFill>
                  <a:schemeClr val="bg1"/>
                </a:solidFill>
                <a:latin typeface="Microsoft YaHei UI" panose="020B0503020204020204" pitchFamily="34" charset="-122"/>
                <a:ea typeface="Microsoft YaHei UI" panose="020B0503020204020204" pitchFamily="34" charset="-122"/>
              </a:rPr>
              <a:t>和大多数小</a:t>
            </a:r>
            <a:r>
              <a:rPr lang="en" altLang="zh-CN" sz="800" dirty="0">
                <a:solidFill>
                  <a:schemeClr val="bg1"/>
                </a:solidFill>
                <a:latin typeface="Microsoft YaHei UI" panose="020B0503020204020204" pitchFamily="34" charset="-122"/>
                <a:ea typeface="Microsoft YaHei UI" panose="020B0503020204020204" pitchFamily="34" charset="-122"/>
              </a:rPr>
              <a:t>RNA</a:t>
            </a:r>
            <a:r>
              <a:rPr lang="zh-CN" altLang="en" sz="800" dirty="0">
                <a:solidFill>
                  <a:schemeClr val="bg1"/>
                </a:solidFill>
                <a:latin typeface="Microsoft YaHei UI" panose="020B0503020204020204" pitchFamily="34" charset="-122"/>
                <a:ea typeface="Microsoft YaHei UI" panose="020B0503020204020204" pitchFamily="34" charset="-122"/>
              </a:rPr>
              <a:t>（</a:t>
            </a:r>
            <a:r>
              <a:rPr lang="en" altLang="zh-CN" sz="800" dirty="0">
                <a:solidFill>
                  <a:schemeClr val="bg1"/>
                </a:solidFill>
                <a:latin typeface="Microsoft YaHei UI" panose="020B0503020204020204" pitchFamily="34" charset="-122"/>
                <a:ea typeface="Microsoft YaHei UI" panose="020B0503020204020204" pitchFamily="34" charset="-122"/>
              </a:rPr>
              <a:t>sRNA</a:t>
            </a:r>
            <a:r>
              <a:rPr lang="zh-CN" altLang="en" sz="800" dirty="0">
                <a:solidFill>
                  <a:schemeClr val="bg1"/>
                </a:solidFill>
                <a:latin typeface="Microsoft YaHei UI" panose="020B0503020204020204" pitchFamily="34" charset="-122"/>
                <a:ea typeface="Microsoft YaHei UI" panose="020B0503020204020204" pitchFamily="34" charset="-122"/>
              </a:rPr>
              <a:t>）。</a:t>
            </a:r>
          </a:p>
          <a:p>
            <a:pPr algn="just"/>
            <a:r>
              <a:rPr lang="en" altLang="zh-CN" sz="800" dirty="0">
                <a:solidFill>
                  <a:schemeClr val="bg1"/>
                </a:solidFill>
                <a:latin typeface="Microsoft YaHei UI" panose="020B0503020204020204" pitchFamily="34" charset="-122"/>
                <a:ea typeface="Microsoft YaHei UI" panose="020B0503020204020204" pitchFamily="34" charset="-122"/>
              </a:rPr>
              <a:t>sRNA</a:t>
            </a:r>
            <a:r>
              <a:rPr lang="zh-CN" altLang="en" sz="800"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我们证明了</a:t>
            </a:r>
            <a:r>
              <a:rPr lang="en" altLang="zh-CN" sz="800" dirty="0">
                <a:solidFill>
                  <a:schemeClr val="bg1"/>
                </a:solidFill>
                <a:latin typeface="Microsoft YaHei UI" panose="020B0503020204020204" pitchFamily="34" charset="-122"/>
                <a:ea typeface="Microsoft YaHei UI" panose="020B0503020204020204" pitchFamily="34" charset="-122"/>
              </a:rPr>
              <a:t>sRNA</a:t>
            </a:r>
            <a:r>
              <a:rPr lang="zh-CN" altLang="en-US" sz="800" dirty="0">
                <a:solidFill>
                  <a:schemeClr val="bg1"/>
                </a:solidFill>
                <a:latin typeface="Microsoft YaHei UI" panose="020B0503020204020204" pitchFamily="34" charset="-122"/>
                <a:ea typeface="Microsoft YaHei UI" panose="020B0503020204020204" pitchFamily="34" charset="-122"/>
              </a:rPr>
              <a:t>介导调控的多基因机制，解释了特定</a:t>
            </a:r>
            <a:r>
              <a:rPr lang="en" altLang="zh-CN" sz="800" dirty="0">
                <a:solidFill>
                  <a:schemeClr val="bg1"/>
                </a:solidFill>
                <a:latin typeface="Microsoft YaHei UI" panose="020B0503020204020204" pitchFamily="34" charset="-122"/>
                <a:ea typeface="Microsoft YaHei UI" panose="020B0503020204020204" pitchFamily="34" charset="-122"/>
              </a:rPr>
              <a:t>sRNA</a:t>
            </a:r>
            <a:r>
              <a:rPr lang="zh-CN" altLang="en-US" sz="800" dirty="0">
                <a:solidFill>
                  <a:schemeClr val="bg1"/>
                </a:solidFill>
                <a:latin typeface="Microsoft YaHei UI" panose="020B0503020204020204" pitchFamily="34" charset="-122"/>
                <a:ea typeface="Microsoft YaHei UI" panose="020B0503020204020204" pitchFamily="34" charset="-122"/>
              </a:rPr>
              <a:t>缺失所带来的微妙效应（</a:t>
            </a:r>
            <a:r>
              <a:rPr lang="en" altLang="zh-CN" sz="800" dirty="0" err="1">
                <a:solidFill>
                  <a:schemeClr val="bg1"/>
                </a:solidFill>
                <a:latin typeface="Microsoft YaHei UI" panose="020B0503020204020204" pitchFamily="34" charset="-122"/>
                <a:ea typeface="Microsoft YaHei UI" panose="020B0503020204020204" pitchFamily="34" charset="-122"/>
              </a:rPr>
              <a:t>iScience</a:t>
            </a:r>
            <a:r>
              <a:rPr lang="en" altLang="zh-CN" sz="800" dirty="0">
                <a:solidFill>
                  <a:schemeClr val="bg1"/>
                </a:solidFill>
                <a:latin typeface="Microsoft YaHei UI" panose="020B0503020204020204" pitchFamily="34" charset="-122"/>
                <a:ea typeface="Microsoft YaHei UI" panose="020B0503020204020204" pitchFamily="34" charset="-122"/>
              </a:rPr>
              <a:t>, 2021</a:t>
            </a:r>
            <a:r>
              <a:rPr lang="zh-CN" altLang="e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此外，我们发现</a:t>
            </a:r>
            <a:r>
              <a:rPr lang="en" altLang="zh-CN" sz="800" dirty="0">
                <a:solidFill>
                  <a:schemeClr val="bg1"/>
                </a:solidFill>
                <a:latin typeface="Microsoft YaHei UI" panose="020B0503020204020204" pitchFamily="34" charset="-122"/>
                <a:ea typeface="Microsoft YaHei UI" panose="020B0503020204020204" pitchFamily="34" charset="-122"/>
              </a:rPr>
              <a:t>sRNA</a:t>
            </a:r>
            <a:r>
              <a:rPr lang="zh-CN" altLang="en-US" sz="800" dirty="0">
                <a:solidFill>
                  <a:schemeClr val="bg1"/>
                </a:solidFill>
                <a:latin typeface="Microsoft YaHei UI" panose="020B0503020204020204" pitchFamily="34" charset="-122"/>
                <a:ea typeface="Microsoft YaHei UI" panose="020B0503020204020204" pitchFamily="34" charset="-122"/>
              </a:rPr>
              <a:t>与其伴侣蛋白</a:t>
            </a:r>
            <a:r>
              <a:rPr lang="en" altLang="zh-CN" sz="800" dirty="0" err="1">
                <a:solidFill>
                  <a:schemeClr val="bg1"/>
                </a:solidFill>
                <a:latin typeface="Microsoft YaHei UI" panose="020B0503020204020204" pitchFamily="34" charset="-122"/>
                <a:ea typeface="Microsoft YaHei UI" panose="020B0503020204020204" pitchFamily="34" charset="-122"/>
              </a:rPr>
              <a:t>Hfq</a:t>
            </a:r>
            <a:r>
              <a:rPr lang="zh-CN" altLang="en-US" sz="800" dirty="0">
                <a:solidFill>
                  <a:schemeClr val="bg1"/>
                </a:solidFill>
                <a:latin typeface="Microsoft YaHei UI" panose="020B0503020204020204" pitchFamily="34" charset="-122"/>
                <a:ea typeface="Microsoft YaHei UI" panose="020B0503020204020204" pitchFamily="34" charset="-122"/>
              </a:rPr>
              <a:t>共存，而</a:t>
            </a:r>
            <a:r>
              <a:rPr lang="en" altLang="zh-CN" sz="800" dirty="0" err="1">
                <a:solidFill>
                  <a:schemeClr val="bg1"/>
                </a:solidFill>
                <a:latin typeface="Microsoft YaHei UI" panose="020B0503020204020204" pitchFamily="34" charset="-122"/>
                <a:ea typeface="Microsoft YaHei UI" panose="020B0503020204020204" pitchFamily="34" charset="-122"/>
              </a:rPr>
              <a:t>Hfq</a:t>
            </a:r>
            <a:r>
              <a:rPr lang="zh-CN" altLang="en-US" sz="800" dirty="0">
                <a:solidFill>
                  <a:schemeClr val="bg1"/>
                </a:solidFill>
                <a:latin typeface="Microsoft YaHei UI" panose="020B0503020204020204" pitchFamily="34" charset="-122"/>
                <a:ea typeface="Microsoft YaHei UI" panose="020B0503020204020204" pitchFamily="34" charset="-122"/>
              </a:rPr>
              <a:t>在细胞极端发生相分离，这一过程对其活性至关重要（</a:t>
            </a:r>
            <a:r>
              <a:rPr lang="en" altLang="zh-CN" sz="800" dirty="0">
                <a:solidFill>
                  <a:schemeClr val="bg1"/>
                </a:solidFill>
                <a:latin typeface="Microsoft YaHei UI" panose="020B0503020204020204" pitchFamily="34" charset="-122"/>
                <a:ea typeface="Microsoft YaHei UI" panose="020B0503020204020204" pitchFamily="34" charset="-122"/>
              </a:rPr>
              <a:t>Cell Rep, 2022</a:t>
            </a:r>
            <a:r>
              <a:rPr lang="zh-CN" altLang="e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多组学分析表明，包括</a:t>
            </a:r>
            <a:r>
              <a:rPr lang="en" altLang="zh-CN" sz="800" dirty="0">
                <a:solidFill>
                  <a:schemeClr val="bg1"/>
                </a:solidFill>
                <a:latin typeface="Microsoft YaHei UI" panose="020B0503020204020204" pitchFamily="34" charset="-122"/>
                <a:ea typeface="Microsoft YaHei UI" panose="020B0503020204020204" pitchFamily="34" charset="-122"/>
              </a:rPr>
              <a:t>ATP</a:t>
            </a:r>
            <a:r>
              <a:rPr lang="zh-CN" altLang="en-US" sz="800" dirty="0">
                <a:solidFill>
                  <a:schemeClr val="bg1"/>
                </a:solidFill>
                <a:latin typeface="Microsoft YaHei UI" panose="020B0503020204020204" pitchFamily="34" charset="-122"/>
                <a:ea typeface="Microsoft YaHei UI" panose="020B0503020204020204" pitchFamily="34" charset="-122"/>
              </a:rPr>
              <a:t>合成在内的某些代谢通路可能在这些区域内形成区隔化。</a:t>
            </a:r>
          </a:p>
          <a:p>
            <a:pPr algn="just"/>
            <a:r>
              <a:rPr lang="en" altLang="zh-CN" sz="800" dirty="0">
                <a:solidFill>
                  <a:schemeClr val="bg1"/>
                </a:solidFill>
                <a:latin typeface="Microsoft YaHei UI" panose="020B0503020204020204" pitchFamily="34" charset="-122"/>
                <a:ea typeface="Microsoft YaHei UI" panose="020B0503020204020204" pitchFamily="34" charset="-122"/>
              </a:rPr>
              <a:t>mRNA</a:t>
            </a:r>
            <a:r>
              <a:rPr lang="zh-CN" altLang="en" sz="800"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我们最近发现，从极点到极点振荡的</a:t>
            </a:r>
            <a:r>
              <a:rPr lang="en" altLang="zh-CN" sz="800" dirty="0" err="1">
                <a:solidFill>
                  <a:schemeClr val="bg1"/>
                </a:solidFill>
                <a:latin typeface="Microsoft YaHei UI" panose="020B0503020204020204" pitchFamily="34" charset="-122"/>
                <a:ea typeface="Microsoft YaHei UI" panose="020B0503020204020204" pitchFamily="34" charset="-122"/>
              </a:rPr>
              <a:t>MinD</a:t>
            </a:r>
            <a:r>
              <a:rPr lang="zh-CN" altLang="en-US" sz="800" dirty="0">
                <a:solidFill>
                  <a:schemeClr val="bg1"/>
                </a:solidFill>
                <a:latin typeface="Microsoft YaHei UI" panose="020B0503020204020204" pitchFamily="34" charset="-122"/>
                <a:ea typeface="Microsoft YaHei UI" panose="020B0503020204020204" pitchFamily="34" charset="-122"/>
              </a:rPr>
              <a:t>蛋白和</a:t>
            </a:r>
            <a:r>
              <a:rPr lang="en" altLang="zh-CN" sz="800" dirty="0">
                <a:solidFill>
                  <a:schemeClr val="bg1"/>
                </a:solidFill>
                <a:latin typeface="Microsoft YaHei UI" panose="020B0503020204020204" pitchFamily="34" charset="-122"/>
                <a:ea typeface="Microsoft YaHei UI" panose="020B0503020204020204" pitchFamily="34" charset="-122"/>
              </a:rPr>
              <a:t>RNase E</a:t>
            </a:r>
            <a:r>
              <a:rPr lang="zh-CN" altLang="en-US" sz="800" dirty="0">
                <a:solidFill>
                  <a:schemeClr val="bg1"/>
                </a:solidFill>
                <a:latin typeface="Microsoft YaHei UI" panose="020B0503020204020204" pitchFamily="34" charset="-122"/>
                <a:ea typeface="Microsoft YaHei UI" panose="020B0503020204020204" pitchFamily="34" charset="-122"/>
              </a:rPr>
              <a:t>通过防止特定位点的降解来调控</a:t>
            </a:r>
            <a:r>
              <a:rPr lang="en" altLang="zh-CN" sz="800" dirty="0">
                <a:solidFill>
                  <a:schemeClr val="bg1"/>
                </a:solidFill>
                <a:latin typeface="Microsoft YaHei UI" panose="020B0503020204020204" pitchFamily="34" charset="-122"/>
                <a:ea typeface="Microsoft YaHei UI" panose="020B0503020204020204" pitchFamily="34" charset="-122"/>
              </a:rPr>
              <a:t>mRNA</a:t>
            </a:r>
            <a:r>
              <a:rPr lang="zh-CN" altLang="en-US" sz="800" dirty="0">
                <a:solidFill>
                  <a:schemeClr val="bg1"/>
                </a:solidFill>
                <a:latin typeface="Microsoft YaHei UI" panose="020B0503020204020204" pitchFamily="34" charset="-122"/>
                <a:ea typeface="Microsoft YaHei UI" panose="020B0503020204020204" pitchFamily="34" charset="-122"/>
              </a:rPr>
              <a:t>在极点的富集。极性</a:t>
            </a:r>
            <a:r>
              <a:rPr lang="en" altLang="zh-CN" sz="800" dirty="0">
                <a:solidFill>
                  <a:schemeClr val="bg1"/>
                </a:solidFill>
                <a:latin typeface="Microsoft YaHei UI" panose="020B0503020204020204" pitchFamily="34" charset="-122"/>
                <a:ea typeface="Microsoft YaHei UI" panose="020B0503020204020204" pitchFamily="34" charset="-122"/>
              </a:rPr>
              <a:t>mRNA</a:t>
            </a:r>
            <a:r>
              <a:rPr lang="zh-CN" altLang="en-US" sz="800" dirty="0">
                <a:solidFill>
                  <a:schemeClr val="bg1"/>
                </a:solidFill>
                <a:latin typeface="Microsoft YaHei UI" panose="020B0503020204020204" pitchFamily="34" charset="-122"/>
                <a:ea typeface="Microsoft YaHei UI" panose="020B0503020204020204" pitchFamily="34" charset="-122"/>
              </a:rPr>
              <a:t>的错误定位可能会破坏蛋白质的正确定位，这表明细菌中可能存在局部翻译（</a:t>
            </a:r>
            <a:r>
              <a:rPr lang="en" altLang="zh-CN" sz="800" dirty="0">
                <a:solidFill>
                  <a:schemeClr val="bg1"/>
                </a:solidFill>
                <a:latin typeface="Microsoft YaHei UI" panose="020B0503020204020204" pitchFamily="34" charset="-122"/>
                <a:ea typeface="Microsoft YaHei UI" panose="020B0503020204020204" pitchFamily="34" charset="-122"/>
              </a:rPr>
              <a:t>EMBO J, 2024</a:t>
            </a:r>
            <a:r>
              <a:rPr lang="zh-CN" altLang="en" sz="800" dirty="0">
                <a:solidFill>
                  <a:schemeClr val="bg1"/>
                </a:solidFill>
                <a:latin typeface="Microsoft YaHei UI" panose="020B0503020204020204" pitchFamily="34" charset="-122"/>
                <a:ea typeface="Microsoft YaHei UI" panose="020B0503020204020204" pitchFamily="34" charset="-122"/>
              </a:rPr>
              <a:t>）。</a:t>
            </a:r>
          </a:p>
          <a:p>
            <a:pPr algn="just"/>
            <a:r>
              <a:rPr lang="zh-CN" altLang="en-US" sz="800" dirty="0">
                <a:solidFill>
                  <a:schemeClr val="bg1"/>
                </a:solidFill>
                <a:latin typeface="Microsoft YaHei UI" panose="020B0503020204020204" pitchFamily="34" charset="-122"/>
                <a:ea typeface="Microsoft YaHei UI" panose="020B0503020204020204" pitchFamily="34" charset="-122"/>
              </a:rPr>
              <a:t>偶联转录</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翻译（</a:t>
            </a:r>
            <a:r>
              <a:rPr lang="en" altLang="zh-CN" sz="800" dirty="0">
                <a:solidFill>
                  <a:schemeClr val="bg1"/>
                </a:solidFill>
                <a:latin typeface="Microsoft YaHei UI" panose="020B0503020204020204" pitchFamily="34" charset="-122"/>
                <a:ea typeface="Microsoft YaHei UI" panose="020B0503020204020204" pitchFamily="34" charset="-122"/>
              </a:rPr>
              <a:t>CTT</a:t>
            </a:r>
            <a:r>
              <a:rPr lang="zh-CN" altLang="en" sz="800"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我们开发了一种方法，以近单密码子分辨率绘制三个模式生物的转录组范围内的</a:t>
            </a:r>
            <a:r>
              <a:rPr lang="en" altLang="zh-CN" sz="800" dirty="0">
                <a:solidFill>
                  <a:schemeClr val="bg1"/>
                </a:solidFill>
                <a:latin typeface="Microsoft YaHei UI" panose="020B0503020204020204" pitchFamily="34" charset="-122"/>
                <a:ea typeface="Microsoft YaHei UI" panose="020B0503020204020204" pitchFamily="34" charset="-122"/>
              </a:rPr>
              <a:t>CTT</a:t>
            </a:r>
            <a:r>
              <a:rPr lang="zh-CN" altLang="en-US" sz="800" dirty="0">
                <a:solidFill>
                  <a:schemeClr val="bg1"/>
                </a:solidFill>
                <a:latin typeface="Microsoft YaHei UI" panose="020B0503020204020204" pitchFamily="34" charset="-122"/>
                <a:ea typeface="Microsoft YaHei UI" panose="020B0503020204020204" pitchFamily="34" charset="-122"/>
              </a:rPr>
              <a:t>图谱。我们的研究结果表明，大量基因表达可以在没有</a:t>
            </a:r>
            <a:r>
              <a:rPr lang="en" altLang="zh-CN" sz="800" dirty="0">
                <a:solidFill>
                  <a:schemeClr val="bg1"/>
                </a:solidFill>
                <a:latin typeface="Microsoft YaHei UI" panose="020B0503020204020204" pitchFamily="34" charset="-122"/>
                <a:ea typeface="Microsoft YaHei UI" panose="020B0503020204020204" pitchFamily="34" charset="-122"/>
              </a:rPr>
              <a:t>CTT</a:t>
            </a:r>
            <a:r>
              <a:rPr lang="zh-CN" altLang="en-US" sz="800" dirty="0">
                <a:solidFill>
                  <a:schemeClr val="bg1"/>
                </a:solidFill>
                <a:latin typeface="Microsoft YaHei UI" panose="020B0503020204020204" pitchFamily="34" charset="-122"/>
                <a:ea typeface="Microsoft YaHei UI" panose="020B0503020204020204" pitchFamily="34" charset="-122"/>
              </a:rPr>
              <a:t>的情况下发生，并确定了影响</a:t>
            </a:r>
            <a:r>
              <a:rPr lang="en" altLang="zh-CN" sz="800" dirty="0">
                <a:solidFill>
                  <a:schemeClr val="bg1"/>
                </a:solidFill>
                <a:latin typeface="Microsoft YaHei UI" panose="020B0503020204020204" pitchFamily="34" charset="-122"/>
                <a:ea typeface="Microsoft YaHei UI" panose="020B0503020204020204" pitchFamily="34" charset="-122"/>
              </a:rPr>
              <a:t>CTT</a:t>
            </a:r>
            <a:r>
              <a:rPr lang="zh-CN" altLang="en-US" sz="800" dirty="0">
                <a:solidFill>
                  <a:schemeClr val="bg1"/>
                </a:solidFill>
                <a:latin typeface="Microsoft YaHei UI" panose="020B0503020204020204" pitchFamily="34" charset="-122"/>
                <a:ea typeface="Microsoft YaHei UI" panose="020B0503020204020204" pitchFamily="34" charset="-122"/>
              </a:rPr>
              <a:t>动态的关键因素。</a:t>
            </a:r>
          </a:p>
          <a:p>
            <a:pPr algn="just"/>
            <a:endParaRPr lang="en-US" sz="800" dirty="0">
              <a:solidFill>
                <a:schemeClr val="bg1"/>
              </a:solidFill>
              <a:latin typeface="Microsoft YaHei UI" panose="020B0503020204020204" pitchFamily="34" charset="-122"/>
              <a:ea typeface="Microsoft YaHei UI" panose="020B0503020204020204" pitchFamily="34" charset="-122"/>
            </a:endParaRPr>
          </a:p>
        </p:txBody>
      </p:sp>
      <p:sp>
        <p:nvSpPr>
          <p:cNvPr id="53" name="Google Shape;143;p25"/>
          <p:cNvSpPr/>
          <p:nvPr/>
        </p:nvSpPr>
        <p:spPr>
          <a:xfrm>
            <a:off x="849125" y="6471210"/>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主持人＆嘉宾</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4" name="Google Shape;142;p25"/>
          <p:cNvSpPr/>
          <p:nvPr/>
        </p:nvSpPr>
        <p:spPr>
          <a:xfrm>
            <a:off x="-538540" y="9156261"/>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700" b="1" dirty="0">
                <a:solidFill>
                  <a:schemeClr val="lt1"/>
                </a:solidFill>
                <a:effectLst>
                  <a:outerShdw blurRad="373812" dist="38100" algn="l" rotWithShape="0">
                    <a:prstClr val="black"/>
                  </a:outerShdw>
                </a:effectLst>
                <a:latin typeface="Calibri" panose="020F0502020204030204"/>
                <a:cs typeface="Calibri" panose="020F0502020204030204"/>
              </a:rPr>
              <a:t>赞助商</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38" name="Google Shape;159;p25">
            <a:extLst>
              <a:ext uri="{FF2B5EF4-FFF2-40B4-BE49-F238E27FC236}">
                <a16:creationId xmlns:a16="http://schemas.microsoft.com/office/drawing/2014/main" id="{68F69C2D-0E09-FE41-A4D0-92A089F8BA41}"/>
              </a:ext>
            </a:extLst>
          </p:cNvPr>
          <p:cNvSpPr txBox="1"/>
          <p:nvPr/>
        </p:nvSpPr>
        <p:spPr>
          <a:xfrm>
            <a:off x="1217004" y="7467933"/>
            <a:ext cx="1166442"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rPr>
              <a:t>主持人：苗智超</a:t>
            </a:r>
            <a:endParaRPr lang="en-US" altLang="zh-CN" sz="800" b="1" dirty="0">
              <a:solidFill>
                <a:schemeClr val="bg1"/>
              </a:solidFill>
            </a:endParaRPr>
          </a:p>
          <a:p>
            <a:pPr lvl="0" algn="ctr">
              <a:lnSpc>
                <a:spcPct val="115000"/>
              </a:lnSpc>
            </a:pPr>
            <a:r>
              <a:rPr lang="zh-CN" altLang="en-US" sz="500" i="1" dirty="0">
                <a:solidFill>
                  <a:schemeClr val="bg1"/>
                </a:solidFill>
              </a:rPr>
              <a:t>广州实验室</a:t>
            </a:r>
            <a:endParaRPr lang="en-US" altLang="zh-CN" sz="500" i="1" dirty="0">
              <a:solidFill>
                <a:schemeClr val="bg1"/>
              </a:solidFill>
            </a:endParaRPr>
          </a:p>
          <a:p>
            <a:pPr lvl="0" algn="ctr">
              <a:lnSpc>
                <a:spcPct val="115000"/>
              </a:lnSpc>
            </a:pPr>
            <a:r>
              <a:rPr lang="zh-CN" altLang="en-US" sz="500" i="1" dirty="0">
                <a:solidFill>
                  <a:schemeClr val="bg1"/>
                </a:solidFill>
              </a:rPr>
              <a:t>广州医科大学</a:t>
            </a:r>
            <a:endParaRPr lang="en-US" sz="900" i="1" dirty="0">
              <a:solidFill>
                <a:schemeClr val="bg1"/>
              </a:solidFill>
            </a:endParaRPr>
          </a:p>
        </p:txBody>
      </p:sp>
      <p:grpSp>
        <p:nvGrpSpPr>
          <p:cNvPr id="41" name="Group 40">
            <a:extLst>
              <a:ext uri="{FF2B5EF4-FFF2-40B4-BE49-F238E27FC236}">
                <a16:creationId xmlns:a16="http://schemas.microsoft.com/office/drawing/2014/main" id="{CEF13B64-FC17-154C-8CAF-89E60E41B093}"/>
              </a:ext>
            </a:extLst>
          </p:cNvPr>
          <p:cNvGrpSpPr/>
          <p:nvPr/>
        </p:nvGrpSpPr>
        <p:grpSpPr>
          <a:xfrm>
            <a:off x="1458225" y="6748792"/>
            <a:ext cx="684000" cy="792000"/>
            <a:chOff x="1538852" y="6748792"/>
            <a:chExt cx="684000" cy="792000"/>
          </a:xfrm>
        </p:grpSpPr>
        <p:sp>
          <p:nvSpPr>
            <p:cNvPr id="42" name="Oval 19">
              <a:extLst>
                <a:ext uri="{FF2B5EF4-FFF2-40B4-BE49-F238E27FC236}">
                  <a16:creationId xmlns:a16="http://schemas.microsoft.com/office/drawing/2014/main" id="{4DA937DC-EF20-0A40-B1EC-E7CB1F0D0D98}"/>
                </a:ext>
              </a:extLst>
            </p:cNvPr>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3">
              <a:extLst>
                <a:ext uri="{FF2B5EF4-FFF2-40B4-BE49-F238E27FC236}">
                  <a16:creationId xmlns:a16="http://schemas.microsoft.com/office/drawing/2014/main" id="{C96F3943-820B-1148-A739-07286CD2297F}"/>
                </a:ext>
              </a:extLst>
            </p:cNvPr>
            <p:cNvPicPr>
              <a:picLocks noChangeAspect="1"/>
            </p:cNvPicPr>
            <p:nvPr/>
          </p:nvPicPr>
          <p:blipFill rotWithShape="1">
            <a:blip r:embed="rId3"/>
            <a:srcRect l="10920" t="7031" r="9268" b="33081"/>
            <a:stretch/>
          </p:blipFill>
          <p:spPr>
            <a:xfrm>
              <a:off x="1562298" y="6786251"/>
              <a:ext cx="637108" cy="717083"/>
            </a:xfrm>
            <a:prstGeom prst="ellipse">
              <a:avLst/>
            </a:prstGeom>
          </p:spPr>
        </p:pic>
      </p:grpSp>
      <p:grpSp>
        <p:nvGrpSpPr>
          <p:cNvPr id="4" name="Group 3">
            <a:extLst>
              <a:ext uri="{FF2B5EF4-FFF2-40B4-BE49-F238E27FC236}">
                <a16:creationId xmlns:a16="http://schemas.microsoft.com/office/drawing/2014/main" id="{8C80B4BF-D18D-3345-9028-D07C941B8AE2}"/>
              </a:ext>
            </a:extLst>
          </p:cNvPr>
          <p:cNvGrpSpPr/>
          <p:nvPr/>
        </p:nvGrpSpPr>
        <p:grpSpPr>
          <a:xfrm>
            <a:off x="562012" y="7922593"/>
            <a:ext cx="2496138" cy="1249031"/>
            <a:chOff x="121735" y="7916097"/>
            <a:chExt cx="2496138" cy="1249031"/>
          </a:xfrm>
        </p:grpSpPr>
        <p:sp>
          <p:nvSpPr>
            <p:cNvPr id="40" name="Google Shape;160;p25">
              <a:extLst>
                <a:ext uri="{FF2B5EF4-FFF2-40B4-BE49-F238E27FC236}">
                  <a16:creationId xmlns:a16="http://schemas.microsoft.com/office/drawing/2014/main" id="{9063A2DC-2E34-7F4E-952F-9476CE77BF18}"/>
                </a:ext>
              </a:extLst>
            </p:cNvPr>
            <p:cNvSpPr txBox="1"/>
            <p:nvPr/>
          </p:nvSpPr>
          <p:spPr>
            <a:xfrm>
              <a:off x="121735" y="8750429"/>
              <a:ext cx="9016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zh-CN" altLang="en-US" sz="800" b="1" dirty="0">
                  <a:solidFill>
                    <a:schemeClr val="bg1"/>
                  </a:solidFill>
                </a:rPr>
                <a:t>王金凯</a:t>
              </a:r>
              <a:endParaRPr lang="en-US" altLang="zh-CN" sz="800" b="1" dirty="0">
                <a:solidFill>
                  <a:schemeClr val="bg1"/>
                </a:solidFill>
              </a:endParaRPr>
            </a:p>
            <a:p>
              <a:pPr lvl="0" algn="ctr">
                <a:lnSpc>
                  <a:spcPct val="115000"/>
                </a:lnSpc>
              </a:pPr>
              <a:r>
                <a:rPr lang="zh-CN" altLang="en-US" sz="500" i="1" dirty="0">
                  <a:solidFill>
                    <a:schemeClr val="bg1"/>
                  </a:solidFill>
                </a:rPr>
                <a:t>中山大学</a:t>
              </a:r>
              <a:endParaRPr lang="en-US" altLang="zh-CN" sz="500" i="1" dirty="0">
                <a:solidFill>
                  <a:schemeClr val="bg1"/>
                </a:solidFill>
              </a:endParaRPr>
            </a:p>
          </p:txBody>
        </p:sp>
        <p:grpSp>
          <p:nvGrpSpPr>
            <p:cNvPr id="11" name="Group 10">
              <a:extLst>
                <a:ext uri="{FF2B5EF4-FFF2-40B4-BE49-F238E27FC236}">
                  <a16:creationId xmlns:a16="http://schemas.microsoft.com/office/drawing/2014/main" id="{51B6863E-0804-D345-ACDB-15508181E015}"/>
                </a:ext>
              </a:extLst>
            </p:cNvPr>
            <p:cNvGrpSpPr/>
            <p:nvPr/>
          </p:nvGrpSpPr>
          <p:grpSpPr>
            <a:xfrm>
              <a:off x="230571" y="7916097"/>
              <a:ext cx="684000" cy="792000"/>
              <a:chOff x="223454" y="7916097"/>
              <a:chExt cx="684000" cy="792000"/>
            </a:xfrm>
          </p:grpSpPr>
          <p:sp>
            <p:nvSpPr>
              <p:cNvPr id="50" name="Oval 30">
                <a:extLst>
                  <a:ext uri="{FF2B5EF4-FFF2-40B4-BE49-F238E27FC236}">
                    <a16:creationId xmlns:a16="http://schemas.microsoft.com/office/drawing/2014/main" id="{316B8C43-6854-CC4E-92A5-9ABAF9F09865}"/>
                  </a:ext>
                </a:extLst>
              </p:cNvPr>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5" name="Picture 23" descr="A person wearing glasses&#10;&#10;Description automatically generated with medium confidence">
                <a:extLst>
                  <a:ext uri="{FF2B5EF4-FFF2-40B4-BE49-F238E27FC236}">
                    <a16:creationId xmlns:a16="http://schemas.microsoft.com/office/drawing/2014/main" id="{76636FF9-252E-D44C-8AC7-D2BF025FE802}"/>
                  </a:ext>
                </a:extLst>
              </p:cNvPr>
              <p:cNvPicPr>
                <a:picLocks noChangeAspect="1"/>
              </p:cNvPicPr>
              <p:nvPr/>
            </p:nvPicPr>
            <p:blipFill>
              <a:blip r:embed="rId4"/>
              <a:srcRect r="96"/>
              <a:stretch>
                <a:fillRect/>
              </a:stretch>
            </p:blipFill>
            <p:spPr>
              <a:xfrm>
                <a:off x="266200" y="7949427"/>
                <a:ext cx="598508" cy="7200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45" name="Oval 22">
              <a:extLst>
                <a:ext uri="{FF2B5EF4-FFF2-40B4-BE49-F238E27FC236}">
                  <a16:creationId xmlns:a16="http://schemas.microsoft.com/office/drawing/2014/main" id="{1CC27A31-89A3-E441-90C6-00700CE8D176}"/>
                </a:ext>
              </a:extLst>
            </p:cNvPr>
            <p:cNvSpPr/>
            <p:nvPr/>
          </p:nvSpPr>
          <p:spPr>
            <a:xfrm>
              <a:off x="1784001"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Google Shape;160;p25">
              <a:extLst>
                <a:ext uri="{FF2B5EF4-FFF2-40B4-BE49-F238E27FC236}">
                  <a16:creationId xmlns:a16="http://schemas.microsoft.com/office/drawing/2014/main" id="{5DBEC73A-79FB-224A-9C5B-555BCEAC3244}"/>
                </a:ext>
              </a:extLst>
            </p:cNvPr>
            <p:cNvSpPr txBox="1"/>
            <p:nvPr/>
          </p:nvSpPr>
          <p:spPr>
            <a:xfrm>
              <a:off x="831157" y="8750429"/>
              <a:ext cx="1035600"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zh-CN" altLang="en-US" sz="800" b="1" dirty="0">
                  <a:solidFill>
                    <a:schemeClr val="bg1"/>
                  </a:solidFill>
                </a:rPr>
                <a:t>吴宗福</a:t>
              </a:r>
            </a:p>
            <a:p>
              <a:pPr lvl="0" algn="ctr">
                <a:lnSpc>
                  <a:spcPct val="115000"/>
                </a:lnSpc>
              </a:pPr>
              <a:r>
                <a:rPr lang="zh-CN" altLang="en-US" sz="500" i="1" dirty="0">
                  <a:solidFill>
                    <a:schemeClr val="bg1"/>
                  </a:solidFill>
                </a:rPr>
                <a:t>南京农业大学</a:t>
              </a:r>
              <a:endParaRPr lang="en-US" sz="500" i="1" dirty="0">
                <a:solidFill>
                  <a:schemeClr val="bg1"/>
                </a:solidFill>
              </a:endParaRPr>
            </a:p>
          </p:txBody>
        </p:sp>
        <p:sp>
          <p:nvSpPr>
            <p:cNvPr id="46" name="Oval 25">
              <a:extLst>
                <a:ext uri="{FF2B5EF4-FFF2-40B4-BE49-F238E27FC236}">
                  <a16:creationId xmlns:a16="http://schemas.microsoft.com/office/drawing/2014/main" id="{715E1F7F-0D5C-EB43-9F65-DAA8B48A41F0}"/>
                </a:ext>
              </a:extLst>
            </p:cNvPr>
            <p:cNvSpPr/>
            <p:nvPr/>
          </p:nvSpPr>
          <p:spPr>
            <a:xfrm>
              <a:off x="1007286"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42" descr="A person wearing glasses and a suit&#10;&#10;Description automatically generated with medium confidence">
              <a:extLst>
                <a:ext uri="{FF2B5EF4-FFF2-40B4-BE49-F238E27FC236}">
                  <a16:creationId xmlns:a16="http://schemas.microsoft.com/office/drawing/2014/main" id="{0A1059B0-9609-854F-A333-C0D822FA0A12}"/>
                </a:ext>
              </a:extLst>
            </p:cNvPr>
            <p:cNvPicPr>
              <a:picLocks noChangeAspect="1"/>
            </p:cNvPicPr>
            <p:nvPr/>
          </p:nvPicPr>
          <p:blipFill>
            <a:blip r:embed="rId5"/>
            <a:srcRect r="400" b="308"/>
            <a:stretch>
              <a:fillRect/>
            </a:stretch>
          </p:blipFill>
          <p:spPr>
            <a:xfrm>
              <a:off x="1822944" y="7949427"/>
              <a:ext cx="606114" cy="71778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44" name="Google Shape;160;p25">
              <a:extLst>
                <a:ext uri="{FF2B5EF4-FFF2-40B4-BE49-F238E27FC236}">
                  <a16:creationId xmlns:a16="http://schemas.microsoft.com/office/drawing/2014/main" id="{E6975196-25DC-F746-A081-6A5DD9B91A5C}"/>
                </a:ext>
              </a:extLst>
            </p:cNvPr>
            <p:cNvSpPr txBox="1"/>
            <p:nvPr/>
          </p:nvSpPr>
          <p:spPr>
            <a:xfrm>
              <a:off x="1670901" y="8750428"/>
              <a:ext cx="9469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algn="ctr">
                <a:lnSpc>
                  <a:spcPct val="115000"/>
                </a:lnSpc>
              </a:pPr>
              <a:r>
                <a:rPr lang="zh-CN" altLang="en-US" sz="800" b="1" dirty="0">
                  <a:solidFill>
                    <a:schemeClr val="bg1"/>
                  </a:solidFill>
                </a:rPr>
                <a:t>黄林</a:t>
              </a:r>
            </a:p>
            <a:p>
              <a:pPr algn="ctr">
                <a:lnSpc>
                  <a:spcPct val="115000"/>
                </a:lnSpc>
              </a:pPr>
              <a:r>
                <a:rPr lang="zh-CN" altLang="en-US" sz="500" i="1" dirty="0">
                  <a:solidFill>
                    <a:schemeClr val="bg1"/>
                  </a:solidFill>
                </a:rPr>
                <a:t>中山大学</a:t>
              </a:r>
              <a:endParaRPr lang="en-US" sz="500" i="1" dirty="0">
                <a:solidFill>
                  <a:schemeClr val="bg1"/>
                </a:solidFill>
              </a:endParaRPr>
            </a:p>
          </p:txBody>
        </p:sp>
      </p:grpSp>
      <p:sp>
        <p:nvSpPr>
          <p:cNvPr id="29" name="Google Shape;138;p25">
            <a:extLst>
              <a:ext uri="{FF2B5EF4-FFF2-40B4-BE49-F238E27FC236}">
                <a16:creationId xmlns:a16="http://schemas.microsoft.com/office/drawing/2014/main" id="{30EDC49C-2988-8A08-9B9C-9B199B8AE50F}"/>
              </a:ext>
            </a:extLst>
          </p:cNvPr>
          <p:cNvSpPr txBox="1"/>
          <p:nvPr/>
        </p:nvSpPr>
        <p:spPr>
          <a:xfrm>
            <a:off x="1688792" y="1400060"/>
            <a:ext cx="1880529" cy="1749338"/>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altLang="en-US" sz="800" b="1" dirty="0">
                <a:solidFill>
                  <a:schemeClr val="bg1"/>
                </a:solidFill>
              </a:rPr>
              <a:t>北京时间</a:t>
            </a:r>
            <a:r>
              <a:rPr lang="en-US" altLang="zh-CN" sz="800" b="1" dirty="0">
                <a:solidFill>
                  <a:schemeClr val="bg1"/>
                </a:solidFill>
              </a:rPr>
              <a:t>:</a:t>
            </a:r>
            <a:r>
              <a:rPr lang="zh-CN" altLang="en-US" sz="800" b="1" dirty="0">
                <a:solidFill>
                  <a:schemeClr val="bg1"/>
                </a:solidFill>
              </a:rPr>
              <a:t> </a:t>
            </a:r>
            <a:r>
              <a:rPr lang="zh-CN" sz="800" b="1" dirty="0">
                <a:solidFill>
                  <a:schemeClr val="bg1"/>
                </a:solidFill>
              </a:rPr>
              <a:t>202</a:t>
            </a:r>
            <a:r>
              <a:rPr lang="en-GB" altLang="zh-CN" sz="800" b="1" dirty="0">
                <a:solidFill>
                  <a:schemeClr val="bg1"/>
                </a:solidFill>
              </a:rPr>
              <a:t>5</a:t>
            </a:r>
            <a:r>
              <a:rPr lang="zh-CN" sz="800" b="1" dirty="0">
                <a:solidFill>
                  <a:schemeClr val="bg1"/>
                </a:solidFill>
              </a:rPr>
              <a:t>-</a:t>
            </a:r>
            <a:r>
              <a:rPr lang="en-US" altLang="zh-CN" sz="800" b="1" dirty="0">
                <a:solidFill>
                  <a:schemeClr val="bg1"/>
                </a:solidFill>
              </a:rPr>
              <a:t>03-27</a:t>
            </a:r>
            <a:r>
              <a:rPr lang="zh-CN" altLang="en-US" sz="800" b="1" dirty="0">
                <a:solidFill>
                  <a:schemeClr val="bg1"/>
                </a:solidFill>
              </a:rPr>
              <a:t> </a:t>
            </a:r>
            <a:r>
              <a:rPr lang="en-US" altLang="zh-CN" sz="800" b="1" dirty="0">
                <a:solidFill>
                  <a:schemeClr val="bg1"/>
                </a:solidFill>
              </a:rPr>
              <a:t>16</a:t>
            </a:r>
            <a:r>
              <a:rPr lang="zh-CN" sz="800" b="1" dirty="0">
                <a:solidFill>
                  <a:schemeClr val="bg1"/>
                </a:solidFill>
              </a:rPr>
              <a:t>:00 </a:t>
            </a:r>
            <a:endParaRPr lang="en-US" altLang="zh-CN" sz="800" b="1" dirty="0">
              <a:solidFill>
                <a:schemeClr val="bg1"/>
              </a:solidFill>
              <a:latin typeface="Calibri" panose="020F0502020204030204"/>
              <a:ea typeface="Calibri" panose="020F0502020204030204"/>
              <a:cs typeface="Calibri" panose="020F0502020204030204"/>
              <a:sym typeface="Calibri" panose="020F0502020204030204"/>
            </a:endParaRPr>
          </a:p>
          <a:p>
            <a:pPr>
              <a:lnSpc>
                <a:spcPct val="150000"/>
              </a:lnSpc>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Zoom </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会议号</a:t>
            </a: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 893 0005 4861</a:t>
            </a:r>
          </a:p>
          <a:p>
            <a:pPr>
              <a:lnSpc>
                <a:spcPct val="150000"/>
              </a:lnSpc>
            </a:pPr>
            <a:r>
              <a:rPr lang="zh-CN" altLang="en-GB" sz="800" b="1" dirty="0">
                <a:solidFill>
                  <a:schemeClr val="bg1"/>
                </a:solidFill>
                <a:latin typeface="Calibri" panose="020F0502020204030204"/>
                <a:ea typeface="Calibri" panose="020F0502020204030204"/>
                <a:cs typeface="Calibri" panose="020F0502020204030204"/>
                <a:sym typeface="Calibri" panose="020F0502020204030204"/>
              </a:rPr>
              <a:t>密码</a:t>
            </a: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 123456</a:t>
            </a:r>
          </a:p>
          <a:p>
            <a:pPr>
              <a:lnSpc>
                <a:spcPct val="150000"/>
              </a:lnSpc>
            </a:pPr>
            <a:r>
              <a:rPr lang="en-GB" sz="800" b="1" dirty="0">
                <a:solidFill>
                  <a:schemeClr val="bg1"/>
                </a:solidFill>
                <a:latin typeface="Calibri" panose="020F0502020204030204"/>
                <a:cs typeface="Calibri" panose="020F0502020204030204"/>
                <a:sym typeface="Calibri" panose="020F0502020204030204"/>
              </a:rPr>
              <a:t>Zoom </a:t>
            </a:r>
            <a:r>
              <a:rPr lang="en-GB" sz="800" b="1" dirty="0" err="1">
                <a:solidFill>
                  <a:schemeClr val="bg1"/>
                </a:solidFill>
                <a:latin typeface="Calibri" panose="020F0502020204030204"/>
                <a:cs typeface="Calibri" panose="020F0502020204030204"/>
                <a:sym typeface="Calibri" panose="020F0502020204030204"/>
              </a:rPr>
              <a:t>会议链接</a:t>
            </a:r>
            <a:r>
              <a:rPr lang="en-GB" sz="800" b="1" dirty="0">
                <a:solidFill>
                  <a:schemeClr val="bg1"/>
                </a:solidFill>
                <a:latin typeface="Calibri" panose="020F0502020204030204"/>
                <a:cs typeface="Calibri" panose="020F0502020204030204"/>
                <a:sym typeface="Calibri" panose="020F0502020204030204"/>
              </a:rPr>
              <a:t>: https://us06web.zoom.us/j/89300054861?pwd=TZbjJuSwrz4lTdg8yKCwDKKDDzqwNe.1 </a:t>
            </a:r>
          </a:p>
          <a:p>
            <a:pPr>
              <a:lnSpc>
                <a:spcPct val="150000"/>
              </a:lnSpc>
            </a:pPr>
            <a:r>
              <a:rPr lang="en-GB" sz="800" b="1" dirty="0" err="1">
                <a:solidFill>
                  <a:schemeClr val="bg1"/>
                </a:solidFill>
                <a:latin typeface="Calibri" panose="020F0502020204030204"/>
                <a:cs typeface="Calibri" panose="020F0502020204030204"/>
                <a:sym typeface="Calibri" panose="020F0502020204030204"/>
              </a:rPr>
              <a:t>腾讯会议号</a:t>
            </a:r>
            <a:r>
              <a:rPr lang="zh-CN" altLang="en-US" sz="800" b="1" dirty="0">
                <a:solidFill>
                  <a:schemeClr val="bg1"/>
                </a:solidFill>
                <a:latin typeface="Calibri" panose="020F0502020204030204"/>
                <a:cs typeface="Calibri" panose="020F0502020204030204"/>
                <a:sym typeface="Calibri" panose="020F0502020204030204"/>
              </a:rPr>
              <a:t>： </a:t>
            </a:r>
            <a:r>
              <a:rPr lang="en-US" altLang="zh-CN" sz="800" b="1" dirty="0">
                <a:solidFill>
                  <a:schemeClr val="bg1"/>
                </a:solidFill>
                <a:latin typeface="Calibri" panose="020F0502020204030204"/>
                <a:cs typeface="Calibri" panose="020F0502020204030204"/>
                <a:sym typeface="Calibri" panose="020F0502020204030204"/>
              </a:rPr>
              <a:t>723-640-992</a:t>
            </a:r>
          </a:p>
          <a:p>
            <a:pPr>
              <a:lnSpc>
                <a:spcPct val="150000"/>
              </a:lnSpc>
            </a:pP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B</a:t>
            </a:r>
            <a:r>
              <a:rPr lang="zh-CN" altLang="en-GB" sz="800" b="1" dirty="0">
                <a:solidFill>
                  <a:schemeClr val="bg1"/>
                </a:solidFill>
                <a:latin typeface="Calibri" panose="020F0502020204030204"/>
                <a:ea typeface="Calibri" panose="020F0502020204030204"/>
                <a:cs typeface="Calibri" panose="020F0502020204030204"/>
                <a:sym typeface="Calibri" panose="020F0502020204030204"/>
              </a:rPr>
              <a:t>站</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a:t>
            </a: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https://</a:t>
            </a:r>
            <a:r>
              <a:rPr lang="en-US" altLang="zh-CN" sz="800" b="1" dirty="0" err="1">
                <a:solidFill>
                  <a:schemeClr val="bg1"/>
                </a:solidFill>
                <a:latin typeface="Calibri" panose="020F0502020204030204"/>
                <a:ea typeface="Calibri" panose="020F0502020204030204"/>
                <a:cs typeface="Calibri" panose="020F0502020204030204"/>
                <a:sym typeface="Calibri" panose="020F0502020204030204"/>
              </a:rPr>
              <a:t>live.bilibili.com</a:t>
            </a: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/26427894</a:t>
            </a:r>
            <a:endParaRPr lang="en-GB" altLang="zh-CN" sz="800" b="1" dirty="0">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48" name="Google Shape;142;p25">
            <a:extLst>
              <a:ext uri="{FF2B5EF4-FFF2-40B4-BE49-F238E27FC236}">
                <a16:creationId xmlns:a16="http://schemas.microsoft.com/office/drawing/2014/main" id="{CF6E557B-21CF-6551-4917-8231B3614F50}"/>
              </a:ext>
            </a:extLst>
          </p:cNvPr>
          <p:cNvSpPr/>
          <p:nvPr/>
        </p:nvSpPr>
        <p:spPr>
          <a:xfrm>
            <a:off x="31129" y="3310252"/>
            <a:ext cx="3557905" cy="877245"/>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Orna Amster-Choder</a:t>
            </a:r>
          </a:p>
          <a:p>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医学院微生物学和分子遗传学系教授， 以色列耶路撒冷希伯来大学，以色列</a:t>
            </a:r>
            <a:endParaRPr lang="en-US" sz="8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pic>
        <p:nvPicPr>
          <p:cNvPr id="49" name="Picture 4">
            <a:extLst>
              <a:ext uri="{FF2B5EF4-FFF2-40B4-BE49-F238E27FC236}">
                <a16:creationId xmlns:a16="http://schemas.microsoft.com/office/drawing/2014/main" id="{E33812B7-35AF-BF02-96B4-AC77D6CC00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9608" y="7962410"/>
            <a:ext cx="599251" cy="720000"/>
          </a:xfrm>
          <a:prstGeom prst="ellipse">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949A58BF-D6EB-7244-F2C3-364A12A9A9E6}"/>
              </a:ext>
            </a:extLst>
          </p:cNvPr>
          <p:cNvPicPr>
            <a:picLocks noChangeAspect="1"/>
          </p:cNvPicPr>
          <p:nvPr/>
        </p:nvPicPr>
        <p:blipFill>
          <a:blip r:embed="rId7"/>
          <a:srcRect l="10898" r="8819"/>
          <a:stretch/>
        </p:blipFill>
        <p:spPr>
          <a:xfrm>
            <a:off x="138584" y="1399241"/>
            <a:ext cx="1637322" cy="2039425"/>
          </a:xfrm>
          <a:prstGeom prst="rect">
            <a:avLst/>
          </a:prstGeom>
        </p:spPr>
      </p:pic>
      <p:pic>
        <p:nvPicPr>
          <p:cNvPr id="5" name="Picture 43">
            <a:extLst>
              <a:ext uri="{FF2B5EF4-FFF2-40B4-BE49-F238E27FC236}">
                <a16:creationId xmlns:a16="http://schemas.microsoft.com/office/drawing/2014/main" id="{588BEA95-7AAE-EEA9-8C51-DA35239294A2}"/>
              </a:ext>
            </a:extLst>
          </p:cNvPr>
          <p:cNvPicPr>
            <a:picLocks noChangeAspect="1"/>
          </p:cNvPicPr>
          <p:nvPr/>
        </p:nvPicPr>
        <p:blipFill>
          <a:blip r:embed="rId8"/>
          <a:stretch>
            <a:fillRect/>
          </a:stretch>
        </p:blipFill>
        <p:spPr>
          <a:xfrm>
            <a:off x="2903025" y="3153196"/>
            <a:ext cx="558841" cy="558841"/>
          </a:xfrm>
          <a:prstGeom prst="rect">
            <a:avLst/>
          </a:prstGeom>
        </p:spPr>
      </p:pic>
      <p:grpSp>
        <p:nvGrpSpPr>
          <p:cNvPr id="6" name="Group 10">
            <a:extLst>
              <a:ext uri="{FF2B5EF4-FFF2-40B4-BE49-F238E27FC236}">
                <a16:creationId xmlns:a16="http://schemas.microsoft.com/office/drawing/2014/main" id="{BBEC38A0-F814-53BD-F133-DC071D1CE45F}"/>
              </a:ext>
            </a:extLst>
          </p:cNvPr>
          <p:cNvGrpSpPr/>
          <p:nvPr/>
        </p:nvGrpSpPr>
        <p:grpSpPr>
          <a:xfrm>
            <a:off x="2259471" y="3153196"/>
            <a:ext cx="558842" cy="558842"/>
            <a:chOff x="1980226" y="3246392"/>
            <a:chExt cx="558842" cy="558842"/>
          </a:xfrm>
        </p:grpSpPr>
        <p:pic>
          <p:nvPicPr>
            <p:cNvPr id="7" name="Picture 6">
              <a:extLst>
                <a:ext uri="{FF2B5EF4-FFF2-40B4-BE49-F238E27FC236}">
                  <a16:creationId xmlns:a16="http://schemas.microsoft.com/office/drawing/2014/main" id="{FDED17DC-D224-F1E9-0F1A-696CDACC75E9}"/>
                </a:ext>
              </a:extLst>
            </p:cNvPr>
            <p:cNvPicPr>
              <a:picLocks noChangeAspect="1"/>
            </p:cNvPicPr>
            <p:nvPr/>
          </p:nvPicPr>
          <p:blipFill>
            <a:blip r:embed="rId9"/>
            <a:stretch>
              <a:fillRect/>
            </a:stretch>
          </p:blipFill>
          <p:spPr>
            <a:xfrm>
              <a:off x="1980226" y="3246392"/>
              <a:ext cx="558842" cy="558842"/>
            </a:xfrm>
            <a:prstGeom prst="rect">
              <a:avLst/>
            </a:prstGeom>
          </p:spPr>
        </p:pic>
        <p:pic>
          <p:nvPicPr>
            <p:cNvPr id="8" name="图片 26" descr="WechatIMG46">
              <a:extLst>
                <a:ext uri="{FF2B5EF4-FFF2-40B4-BE49-F238E27FC236}">
                  <a16:creationId xmlns:a16="http://schemas.microsoft.com/office/drawing/2014/main" id="{4C78ADB7-A532-A004-1D7F-62610D07ABB1}"/>
                </a:ext>
              </a:extLst>
            </p:cNvPr>
            <p:cNvPicPr>
              <a:picLocks noChangeAspect="1"/>
            </p:cNvPicPr>
            <p:nvPr/>
          </p:nvPicPr>
          <p:blipFill>
            <a:blip r:embed="rId10"/>
            <a:stretch>
              <a:fillRect/>
            </a:stretch>
          </p:blipFill>
          <p:spPr>
            <a:xfrm>
              <a:off x="2110207" y="3463356"/>
              <a:ext cx="249555" cy="71755"/>
            </a:xfrm>
            <a:prstGeom prst="rect">
              <a:avLst/>
            </a:prstGeom>
          </p:spPr>
        </p:pic>
      </p:grpSp>
    </p:spTree>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535</TotalTime>
  <Words>795</Words>
  <Application>Microsoft Macintosh PowerPoint</Application>
  <PresentationFormat>自定义</PresentationFormat>
  <Paragraphs>50</Paragraphs>
  <Slides>2</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vt:i4>
      </vt:variant>
    </vt:vector>
  </HeadingPairs>
  <TitlesOfParts>
    <vt:vector size="7" baseType="lpstr">
      <vt:lpstr>SimHei</vt:lpstr>
      <vt:lpstr>Calibri</vt:lpstr>
      <vt:lpstr>Microsoft YaHei UI</vt:lpstr>
      <vt:lpstr>Arial</vt:lpstr>
      <vt:lpstr>Office 主题​​</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Yangzhuoran</dc:creator>
  <cp:lastModifiedBy>佳馨 赵</cp:lastModifiedBy>
  <cp:revision>191</cp:revision>
  <cp:lastPrinted>2025-01-09T13:06:34Z</cp:lastPrinted>
  <dcterms:created xsi:type="dcterms:W3CDTF">2023-11-28T10:04:21Z</dcterms:created>
  <dcterms:modified xsi:type="dcterms:W3CDTF">2025-03-15T09:33:01Z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8860073C258B1AD38B056465F0A2DC00_43</vt:lpwstr>
  </property>
  <property fmtid="{D5CDD505-2E9C-101B-9397-08002B2CF9AE}" pid="3" name="KSOProductBuildVer">
    <vt:lpwstr>2052-6.3.0.8471</vt:lpwstr>
  </property>
</Properties>
</file>