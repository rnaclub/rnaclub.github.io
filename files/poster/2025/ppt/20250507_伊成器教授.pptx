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media/image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6"/>
  </p:handoutMasterIdLst>
  <p:sldIdLst>
    <p:sldId id="258" r:id="rId3"/>
    <p:sldId id="260" r:id="rId5"/>
  </p:sldIdLst>
  <p:sldSz cx="3600450" cy="10080625"/>
  <p:notesSz cx="6858000" cy="9144000"/>
  <p:embeddedFontLst>
    <p:embeddedFont>
      <p:font typeface="Calibri" panose="020F0502020204030204"/>
      <p:regular r:id="rId10"/>
      <p:bold r:id="rId11"/>
      <p:italic r:id="rId12"/>
      <p:boldItalic r:id="rId13"/>
    </p:embeddedFont>
    <p:embeddedFont>
      <p:font typeface="Microsoft YaHei UI" panose="020B0503020204020204" pitchFamily="34" charset="-122"/>
      <p:regular r:id="rId14"/>
    </p:embeddedFont>
    <p:embeddedFont>
      <p:font typeface="黑体" panose="02010609060101010101" pitchFamily="49" charset="-122"/>
      <p:regular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3203" userDrawn="1">
          <p15:clr>
            <a:srgbClr val="A4A3A4"/>
          </p15:clr>
        </p15:guide>
        <p15:guide id="2" pos="13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80"/>
    <p:restoredTop sz="94677"/>
  </p:normalViewPr>
  <p:slideViewPr>
    <p:cSldViewPr snapToGrid="0" showGuides="1">
      <p:cViewPr>
        <p:scale>
          <a:sx n="110" d="100"/>
          <a:sy n="110" d="100"/>
        </p:scale>
        <p:origin x="2328" y="-4419"/>
      </p:cViewPr>
      <p:guideLst>
        <p:guide orient="horz" pos="3203"/>
        <p:guide pos="1313"/>
      </p:guideLst>
    </p:cSldViewPr>
  </p:slideViewPr>
  <p:notesTextViewPr>
    <p:cViewPr>
      <p:scale>
        <a:sx n="1" d="1"/>
        <a:sy n="1" d="1"/>
      </p:scale>
      <p:origin x="0" y="0"/>
    </p:cViewPr>
  </p:notesText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font" Target="fonts/font6.fntdata"/><Relationship Id="rId14" Type="http://schemas.openxmlformats.org/officeDocument/2006/relationships/font" Target="fonts/font5.fntdata"/><Relationship Id="rId13" Type="http://schemas.openxmlformats.org/officeDocument/2006/relationships/font" Target="fonts/font4.fntdata"/><Relationship Id="rId12" Type="http://schemas.openxmlformats.org/officeDocument/2006/relationships/font" Target="fonts/font3.fntdata"/><Relationship Id="rId11" Type="http://schemas.openxmlformats.org/officeDocument/2006/relationships/font" Target="fonts/font2.fntdata"/><Relationship Id="rId10" Type="http://schemas.openxmlformats.org/officeDocument/2006/relationships/font" Target="fonts/font1.fntdata"/><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8747A-E4B2-4122-A2E7-7F3B204A8E4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6BB35-80DC-45F2-B32D-282C46F2690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17009" y="685800"/>
            <a:ext cx="12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1" Type="http://schemas.openxmlformats.org/officeDocument/2006/relationships/image" Target="../media/image10.jpe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matchingName="标题和内容">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rPr>
                <a:t>Guangzhou RNA club</a:t>
              </a:r>
              <a:endParaRPr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24" y="36429"/>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pic>
          <p:nvPicPr>
            <p:cNvPr id="9" name="Google Shape;139;p25"/>
            <p:cNvPicPr preferRelativeResize="0">
              <a:picLocks noChangeAspect="1"/>
            </p:cNvPicPr>
            <p:nvPr/>
          </p:nvPicPr>
          <p:blipFill rotWithShape="1">
            <a:blip r:embed="rId6"/>
            <a:srcRect/>
            <a:stretch>
              <a:fillRect/>
            </a:stretch>
          </p:blipFill>
          <p:spPr>
            <a:xfrm>
              <a:off x="520828" y="77623"/>
              <a:ext cx="244251" cy="243471"/>
            </a:xfrm>
            <a:prstGeom prst="ellipse">
              <a:avLst/>
            </a:prstGeom>
            <a:noFill/>
            <a:ln>
              <a:noFill/>
            </a:ln>
          </p:spPr>
        </p:pic>
      </p:grpSp>
      <p:pic>
        <p:nvPicPr>
          <p:cNvPr id="27" name="图片 14"/>
          <p:cNvPicPr>
            <a:picLocks noChangeAspect="1"/>
          </p:cNvPicPr>
          <p:nvPr userDrawn="1"/>
        </p:nvPicPr>
        <p:blipFill>
          <a:blip r:embed="rId7"/>
          <a:stretch>
            <a:fillRect/>
          </a:stretch>
        </p:blipFill>
        <p:spPr>
          <a:xfrm>
            <a:off x="1326605" y="36429"/>
            <a:ext cx="545539" cy="180000"/>
          </a:xfrm>
          <a:prstGeom prst="rect">
            <a:avLst/>
          </a:prstGeom>
        </p:spPr>
      </p:pic>
      <p:grpSp>
        <p:nvGrpSpPr>
          <p:cNvPr id="28" name="Group 27"/>
          <p:cNvGrpSpPr>
            <a:grpSpLocks noChangeAspect="1"/>
          </p:cNvGrpSpPr>
          <p:nvPr userDrawn="1"/>
        </p:nvGrpSpPr>
        <p:grpSpPr>
          <a:xfrm>
            <a:off x="1927189" y="34314"/>
            <a:ext cx="434661" cy="180000"/>
            <a:chOff x="2561030" y="9647587"/>
            <a:chExt cx="892417" cy="316706"/>
          </a:xfrm>
        </p:grpSpPr>
        <p:sp>
          <p:nvSpPr>
            <p:cNvPr id="29" name="Rounded Rectangle 28"/>
            <p:cNvSpPr/>
            <p:nvPr/>
          </p:nvSpPr>
          <p:spPr>
            <a:xfrm>
              <a:off x="2561030" y="9647587"/>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Graphic 29"/>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85351" y="9662179"/>
              <a:ext cx="849301" cy="291816"/>
            </a:xfrm>
            <a:prstGeom prst="rect">
              <a:avLst/>
            </a:prstGeom>
          </p:spPr>
        </p:pic>
      </p:grpSp>
      <p:pic>
        <p:nvPicPr>
          <p:cNvPr id="12" name="图片 11"/>
          <p:cNvPicPr>
            <a:picLocks noChangeAspect="1"/>
          </p:cNvPicPr>
          <p:nvPr userDrawn="1"/>
        </p:nvPicPr>
        <p:blipFill>
          <a:blip r:embed="rId10"/>
          <a:stretch>
            <a:fillRect/>
          </a:stretch>
        </p:blipFill>
        <p:spPr>
          <a:xfrm>
            <a:off x="3098507" y="37674"/>
            <a:ext cx="466668" cy="180000"/>
          </a:xfrm>
          <a:prstGeom prst="rect">
            <a:avLst/>
          </a:prstGeom>
          <a:solidFill>
            <a:schemeClr val="bg1"/>
          </a:solidFill>
        </p:spPr>
      </p:pic>
      <p:pic>
        <p:nvPicPr>
          <p:cNvPr id="19" name="图片 14"/>
          <p:cNvPicPr>
            <a:picLocks noChangeAspect="1"/>
          </p:cNvPicPr>
          <p:nvPr userDrawn="1"/>
        </p:nvPicPr>
        <p:blipFill>
          <a:blip r:embed="rId7"/>
          <a:stretch>
            <a:fillRect/>
          </a:stretch>
        </p:blipFill>
        <p:spPr>
          <a:xfrm>
            <a:off x="534743" y="9701452"/>
            <a:ext cx="766418" cy="252879"/>
          </a:xfrm>
          <a:prstGeom prst="rect">
            <a:avLst/>
          </a:prstGeom>
        </p:spPr>
      </p:pic>
      <p:grpSp>
        <p:nvGrpSpPr>
          <p:cNvPr id="20" name="Group 19"/>
          <p:cNvGrpSpPr/>
          <p:nvPr userDrawn="1"/>
        </p:nvGrpSpPr>
        <p:grpSpPr>
          <a:xfrm>
            <a:off x="1326605" y="9709557"/>
            <a:ext cx="610648" cy="252879"/>
            <a:chOff x="2561031" y="9647595"/>
            <a:chExt cx="892417" cy="316706"/>
          </a:xfrm>
        </p:grpSpPr>
        <p:sp>
          <p:nvSpPr>
            <p:cNvPr id="21" name="Rounded Rectangle 20"/>
            <p:cNvSpPr/>
            <p:nvPr/>
          </p:nvSpPr>
          <p:spPr>
            <a:xfrm>
              <a:off x="2561031" y="9647595"/>
              <a:ext cx="892417" cy="316706"/>
            </a:xfrm>
            <a:prstGeom prst="roundRect">
              <a:avLst>
                <a:gd name="adj" fmla="val 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85351" y="9662179"/>
              <a:ext cx="849301" cy="291816"/>
            </a:xfrm>
            <a:prstGeom prst="rect">
              <a:avLst/>
            </a:prstGeom>
          </p:spPr>
        </p:pic>
      </p:grpSp>
      <p:pic>
        <p:nvPicPr>
          <p:cNvPr id="35" name="图片 34"/>
          <p:cNvPicPr>
            <a:picLocks noChangeAspect="1"/>
          </p:cNvPicPr>
          <p:nvPr userDrawn="1"/>
        </p:nvPicPr>
        <p:blipFill>
          <a:blip r:embed="rId10"/>
          <a:stretch>
            <a:fillRect/>
          </a:stretch>
        </p:blipFill>
        <p:spPr>
          <a:xfrm>
            <a:off x="2877001" y="9709997"/>
            <a:ext cx="653335" cy="252000"/>
          </a:xfrm>
          <a:prstGeom prst="rect">
            <a:avLst/>
          </a:prstGeom>
          <a:solidFill>
            <a:schemeClr val="bg1"/>
          </a:solidFill>
        </p:spPr>
      </p:pic>
      <p:pic>
        <p:nvPicPr>
          <p:cNvPr id="23" name="Picture 2" descr="Lexogen at the Swiss Biotech Day"/>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2416895" y="35849"/>
            <a:ext cx="634900" cy="1800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Lexogen at the Swiss Biotech Day"/>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962697" y="9709997"/>
            <a:ext cx="888860" cy="25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2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2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2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2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jpe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5.png"/><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image" Target="../media/image11.png"/></Relationships>
</file>

<file path=ppt/slides/_rels/slide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jpe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5.png"/><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22" name="组合 21"/>
          <p:cNvGrpSpPr/>
          <p:nvPr/>
        </p:nvGrpSpPr>
        <p:grpSpPr>
          <a:xfrm>
            <a:off x="1534795" y="6751320"/>
            <a:ext cx="683260" cy="791210"/>
            <a:chOff x="3551" y="10684"/>
            <a:chExt cx="1076" cy="1246"/>
          </a:xfrm>
        </p:grpSpPr>
        <p:sp>
          <p:nvSpPr>
            <p:cNvPr id="19" name="Oval 22"/>
            <p:cNvSpPr/>
            <p:nvPr/>
          </p:nvSpPr>
          <p:spPr>
            <a:xfrm>
              <a:off x="3551" y="10684"/>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20" name="Picture 23" descr="A person wearing glasses&#10;&#10;Description automatically generated with medium confidence"/>
            <p:cNvPicPr>
              <a:picLocks noChangeAspect="1"/>
            </p:cNvPicPr>
            <p:nvPr/>
          </p:nvPicPr>
          <p:blipFill>
            <a:blip r:embed="rId1"/>
            <a:srcRect r="96"/>
            <a:stretch>
              <a:fillRect/>
            </a:stretch>
          </p:blipFill>
          <p:spPr>
            <a:xfrm>
              <a:off x="3630" y="10741"/>
              <a:ext cx="943" cy="1134"/>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142" name="Google Shape;142;p25"/>
          <p:cNvSpPr/>
          <p:nvPr/>
        </p:nvSpPr>
        <p:spPr>
          <a:xfrm>
            <a:off x="98742" y="3411145"/>
            <a:ext cx="3354705" cy="593725"/>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algn="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Prof. Chengqi Yi</a:t>
            </a:r>
            <a:endPar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endParaRPr>
          </a:p>
          <a:p>
            <a:pPr algn="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School of Life Sciences, Peking University</a:t>
            </a:r>
            <a:endPar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graphicFrame>
        <p:nvGraphicFramePr>
          <p:cNvPr id="2" name="Table 2"/>
          <p:cNvGraphicFramePr>
            <a:graphicFrameLocks noGrp="1"/>
          </p:cNvGraphicFramePr>
          <p:nvPr/>
        </p:nvGraphicFramePr>
        <p:xfrm>
          <a:off x="3980929" y="0"/>
          <a:ext cx="996187" cy="1854200"/>
        </p:xfrm>
        <a:graphic>
          <a:graphicData uri="http://schemas.openxmlformats.org/drawingml/2006/table">
            <a:tbl>
              <a:tblPr firstRow="1" bandRow="1">
                <a:tableStyleId>{5C22544A-7EE6-4342-B048-85BDC9FD1C3A}</a:tableStyleId>
              </a:tblPr>
              <a:tblGrid>
                <a:gridCol w="996187"/>
              </a:tblGrid>
              <a:tr h="370840">
                <a:tc>
                  <a:txBody>
                    <a:bodyPr/>
                    <a:lstStyle/>
                    <a:p>
                      <a:endParaRPr lang="en-US" dirty="0"/>
                    </a:p>
                  </a:txBody>
                  <a:tcPr>
                    <a:solidFill>
                      <a:srgbClr val="548135"/>
                    </a:solidFill>
                  </a:tcPr>
                </a:tc>
              </a:tr>
              <a:tr h="370840">
                <a:tc>
                  <a:txBody>
                    <a:bodyPr/>
                    <a:lstStyle/>
                    <a:p>
                      <a:endParaRPr lang="en-US" dirty="0"/>
                    </a:p>
                  </a:txBody>
                  <a:tcPr>
                    <a:solidFill>
                      <a:srgbClr val="A5FF69"/>
                    </a:solidFill>
                  </a:tcPr>
                </a:tc>
              </a:tr>
              <a:tr h="370840">
                <a:tc>
                  <a:txBody>
                    <a:bodyPr/>
                    <a:lstStyle/>
                    <a:p>
                      <a:endParaRPr lang="en-US" dirty="0"/>
                    </a:p>
                  </a:txBody>
                  <a:tcPr>
                    <a:solidFill>
                      <a:srgbClr val="223516"/>
                    </a:solidFill>
                  </a:tcPr>
                </a:tc>
              </a:tr>
              <a:tr h="370840">
                <a:tc>
                  <a:txBody>
                    <a:bodyPr/>
                    <a:lstStyle/>
                    <a:p>
                      <a:endParaRPr lang="en-US" dirty="0"/>
                    </a:p>
                  </a:txBody>
                  <a:tcPr>
                    <a:solidFill>
                      <a:srgbClr val="8BE19A"/>
                    </a:solidFill>
                  </a:tcPr>
                </a:tc>
              </a:tr>
              <a:tr h="370840">
                <a:tc>
                  <a:txBody>
                    <a:bodyPr/>
                    <a:lstStyle/>
                    <a:p>
                      <a:endParaRPr lang="en-US" dirty="0"/>
                    </a:p>
                  </a:txBody>
                  <a:tcPr>
                    <a:solidFill>
                      <a:srgbClr val="4AD9B0"/>
                    </a:solidFill>
                  </a:tcPr>
                </a:tc>
              </a:tr>
            </a:tbl>
          </a:graphicData>
        </a:graphic>
      </p:graphicFrame>
      <p:sp>
        <p:nvSpPr>
          <p:cNvPr id="13" name="TextBox 12"/>
          <p:cNvSpPr txBox="1"/>
          <p:nvPr/>
        </p:nvSpPr>
        <p:spPr>
          <a:xfrm>
            <a:off x="52070" y="3817389"/>
            <a:ext cx="3496310" cy="1854200"/>
          </a:xfrm>
          <a:prstGeom prst="rect">
            <a:avLst/>
          </a:prstGeom>
          <a:noFill/>
        </p:spPr>
        <p:txBody>
          <a:bodyPr wrap="square">
            <a:noAutofit/>
          </a:bodyPr>
          <a:lstStyle/>
          <a:p>
            <a:r>
              <a:rPr lang="en-GB" sz="1000" b="1" dirty="0">
                <a:solidFill>
                  <a:schemeClr val="lt1"/>
                </a:solidFill>
                <a:effectLst>
                  <a:outerShdw blurRad="373812" dist="38100" algn="l" rotWithShape="0">
                    <a:prstClr val="black"/>
                  </a:outerShdw>
                </a:effectLst>
                <a:latin typeface="Calibri" panose="020F0502020204030204"/>
                <a:cs typeface="Calibri" panose="020F0502020204030204"/>
              </a:rPr>
              <a:t>Abstract:</a:t>
            </a:r>
            <a:endParaRPr lang="en-GB" sz="1000" b="1" dirty="0">
              <a:solidFill>
                <a:schemeClr val="lt1"/>
              </a:solidFill>
              <a:effectLst>
                <a:outerShdw blurRad="373812" dist="38100" algn="l" rotWithShape="0">
                  <a:prstClr val="black"/>
                </a:outerShdw>
              </a:effectLst>
              <a:latin typeface="Calibri" panose="020F0502020204030204"/>
              <a:cs typeface="Calibri" panose="020F0502020204030204"/>
            </a:endParaRPr>
          </a:p>
          <a:p>
            <a:pPr algn="just"/>
            <a:r>
              <a:rPr lang="en-US" altLang="zh-CN" sz="800" dirty="0">
                <a:solidFill>
                  <a:schemeClr val="bg1"/>
                </a:solidFill>
                <a:latin typeface="Microsoft YaHei UI" panose="020B0503020204020204" pitchFamily="34" charset="-122"/>
                <a:ea typeface="Microsoft YaHei UI" panose="020B0503020204020204" pitchFamily="34" charset="-122"/>
              </a:rPr>
              <a:t>       As a central molecule in the flow of genetic information, RNA plays essential roles in cellular processes including protein synthesis, gene regulation, and signalling. The presenter has long been dedicated to research in RNA chemical biology, focusing on the development of RNA modification detection technologies, the functional investigation of RNA modifications, and the application of RNA modification-based interventions in physiological and pathological conditions, achieving a series of significant findings. Regarding the development of RNA modification detection technologies, various methods have been developed for the quantitative and unbiased detection of multiple RNA modifications, such as m6A, m6Am, and Ψ, based on specific enzymatic reactions and chemical small-molecule catalytic systems. In terms of the functional study of RNA modifications, the roles and mechanisms of pseudouridine and m1A modifications have been elucidated in various physiological and pathological processes, including cancer, aging, and immune responses. Furthermore, in the context of RNA modification-based interventions, an efficient base editor has been developed for effective RNA editing, and preliminary explorations into therapeutic strategies for genetic diseases have been conducted.</a:t>
            </a:r>
            <a:endParaRPr lang="en-US" altLang="zh-CN" sz="800" dirty="0">
              <a:solidFill>
                <a:schemeClr val="bg1"/>
              </a:solidFill>
              <a:latin typeface="Microsoft YaHei UI" panose="020B0503020204020204" pitchFamily="34" charset="-122"/>
              <a:ea typeface="Microsoft YaHei UI" panose="020B0503020204020204" pitchFamily="34" charset="-122"/>
            </a:endParaRPr>
          </a:p>
        </p:txBody>
      </p:sp>
      <p:sp>
        <p:nvSpPr>
          <p:cNvPr id="9" name="Google Shape;133;p25"/>
          <p:cNvSpPr/>
          <p:nvPr/>
        </p:nvSpPr>
        <p:spPr>
          <a:xfrm>
            <a:off x="-48895" y="979170"/>
            <a:ext cx="3658870" cy="354965"/>
          </a:xfrm>
          <a:prstGeom prst="rect">
            <a:avLst/>
          </a:prstGeom>
          <a:noFill/>
          <a:ln>
            <a:noFill/>
          </a:ln>
        </p:spPr>
        <p:txBody>
          <a:bodyPr spcFirstLastPara="1" wrap="square" lIns="86550" tIns="43250" rIns="86550" bIns="43250" anchor="ctr" anchorCtr="0">
            <a:noAutofit/>
          </a:bodyPr>
          <a:lstStyle/>
          <a:p>
            <a:pPr lvl="0" algn="ctr"/>
            <a:r>
              <a:rPr lang="en-US" altLang="zh-CN" sz="1200" b="1">
                <a:solidFill>
                  <a:schemeClr val="lt1"/>
                </a:solidFill>
                <a:effectLst>
                  <a:outerShdw blurRad="373812" dist="38100" algn="l" rotWithShape="0">
                    <a:prstClr val="black"/>
                  </a:outerShdw>
                </a:effectLst>
                <a:latin typeface="+mn-lt"/>
                <a:cs typeface="Arial" panose="020B0604020202020204" pitchFamily="34" charset="0"/>
                <a:sym typeface="Calibri" panose="020F0502020204030204"/>
              </a:rPr>
              <a:t>Precise RNA</a:t>
            </a:r>
            <a:r>
              <a:rPr lang="en-US" altLang="en-US" sz="1200" b="1">
                <a:solidFill>
                  <a:schemeClr val="lt1"/>
                </a:solidFill>
                <a:effectLst>
                  <a:outerShdw blurRad="373812" dist="38100" algn="l" rotWithShape="0">
                    <a:prstClr val="black"/>
                  </a:outerShdw>
                </a:effectLst>
                <a:latin typeface="+mn-lt"/>
                <a:cs typeface="Arial" panose="020B0604020202020204" pitchFamily="34" charset="0"/>
                <a:sym typeface="Calibri" panose="020F0502020204030204"/>
              </a:rPr>
              <a:t> </a:t>
            </a:r>
            <a:r>
              <a:rPr lang="en-US" altLang="zh-CN" sz="1200" b="1">
                <a:solidFill>
                  <a:schemeClr val="lt1"/>
                </a:solidFill>
                <a:effectLst>
                  <a:outerShdw blurRad="373812" dist="38100" algn="l" rotWithShape="0">
                    <a:prstClr val="black"/>
                  </a:outerShdw>
                </a:effectLst>
                <a:latin typeface="+mn-lt"/>
                <a:cs typeface="Arial" panose="020B0604020202020204" pitchFamily="34" charset="0"/>
                <a:sym typeface="Calibri" panose="020F0502020204030204"/>
              </a:rPr>
              <a:t>targeting and manipulation</a:t>
            </a:r>
            <a:endParaRPr lang="en-US" altLang="zh-CN" sz="1200" b="1">
              <a:solidFill>
                <a:schemeClr val="lt1"/>
              </a:solidFill>
              <a:effectLst>
                <a:outerShdw blurRad="373812" dist="38100" algn="l" rotWithShape="0">
                  <a:prstClr val="black"/>
                </a:outerShdw>
              </a:effectLst>
              <a:latin typeface="+mn-lt"/>
              <a:cs typeface="Arial" panose="020B0604020202020204" pitchFamily="34" charset="0"/>
              <a:sym typeface="Calibri" panose="020F0502020204030204"/>
            </a:endParaRPr>
          </a:p>
        </p:txBody>
      </p:sp>
      <p:sp>
        <p:nvSpPr>
          <p:cNvPr id="10" name="Google Shape;138;p25"/>
          <p:cNvSpPr txBox="1"/>
          <p:nvPr/>
        </p:nvSpPr>
        <p:spPr>
          <a:xfrm>
            <a:off x="52070" y="1517015"/>
            <a:ext cx="2131695" cy="1193800"/>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sz="800" b="1" dirty="0">
                <a:solidFill>
                  <a:schemeClr val="bg1"/>
                </a:solidFill>
              </a:rPr>
              <a:t>Time</a:t>
            </a:r>
            <a:r>
              <a:rPr lang="en-US" altLang="zh-CN" sz="800" b="1" dirty="0">
                <a:solidFill>
                  <a:schemeClr val="bg1"/>
                </a:solidFill>
              </a:rPr>
              <a:t> (China):   </a:t>
            </a:r>
            <a:r>
              <a:rPr lang="zh-CN" sz="800" b="1" dirty="0">
                <a:solidFill>
                  <a:schemeClr val="bg1"/>
                </a:solidFill>
              </a:rPr>
              <a:t>202</a:t>
            </a:r>
            <a:r>
              <a:rPr lang="en-US" altLang="en-GB" sz="800" b="1" dirty="0">
                <a:solidFill>
                  <a:schemeClr val="bg1"/>
                </a:solidFill>
              </a:rPr>
              <a:t>5</a:t>
            </a:r>
            <a:r>
              <a:rPr lang="zh-CN" sz="800" b="1" dirty="0">
                <a:solidFill>
                  <a:schemeClr val="bg1"/>
                </a:solidFill>
              </a:rPr>
              <a:t>-</a:t>
            </a:r>
            <a:r>
              <a:rPr lang="en-US" altLang="zh-CN" sz="800" b="1" dirty="0">
                <a:solidFill>
                  <a:schemeClr val="bg1"/>
                </a:solidFill>
              </a:rPr>
              <a:t>5-7</a:t>
            </a:r>
            <a:r>
              <a:rPr lang="zh-CN" altLang="en-US" sz="800" b="1" dirty="0">
                <a:solidFill>
                  <a:schemeClr val="bg1"/>
                </a:solidFill>
              </a:rPr>
              <a:t> </a:t>
            </a:r>
            <a:r>
              <a:rPr lang="en-US" altLang="zh-CN" sz="800" b="1" dirty="0">
                <a:solidFill>
                  <a:schemeClr val="bg1"/>
                </a:solidFill>
              </a:rPr>
              <a:t>10</a:t>
            </a:r>
            <a:r>
              <a:rPr lang="zh-CN" sz="800" b="1" dirty="0">
                <a:solidFill>
                  <a:schemeClr val="bg1"/>
                </a:solidFill>
              </a:rPr>
              <a:t>:00</a:t>
            </a:r>
            <a:r>
              <a:rPr lang="en-US" altLang="zh-CN" sz="800" b="1" dirty="0">
                <a:solidFill>
                  <a:schemeClr val="bg1"/>
                </a:solidFill>
              </a:rPr>
              <a:t>-11:00 AM</a:t>
            </a:r>
            <a:r>
              <a:rPr lang="zh-CN" sz="800" b="1" dirty="0">
                <a:solidFill>
                  <a:schemeClr val="bg1"/>
                </a:solidFill>
              </a:rPr>
              <a:t>  </a:t>
            </a:r>
            <a:endParaRPr lang="en-GB" altLang="zh-CN" sz="800" b="1" dirty="0">
              <a:solidFill>
                <a:schemeClr val="bg1"/>
              </a:solidFill>
            </a:endParaRPr>
          </a:p>
          <a:p>
            <a:pPr>
              <a:lnSpc>
                <a:spcPct val="150000"/>
              </a:lnSpc>
            </a:pPr>
            <a:r>
              <a:rPr lang="en-US" sz="800" b="1" dirty="0">
                <a:solidFill>
                  <a:schemeClr val="bg1"/>
                </a:solidFill>
                <a:latin typeface="Calibri" panose="020F0502020204030204"/>
                <a:ea typeface="Calibri" panose="020F0502020204030204"/>
                <a:cs typeface="Calibri" panose="020F0502020204030204"/>
                <a:sym typeface="Calibri" panose="020F0502020204030204"/>
              </a:rPr>
              <a:t>Tencent ID</a:t>
            </a:r>
            <a:r>
              <a:rPr lang="en-GB" altLang="zh-CN" sz="800" b="1" dirty="0">
                <a:solidFill>
                  <a:schemeClr val="bg1"/>
                </a:solidFill>
                <a:latin typeface="Calibri" panose="020F0502020204030204"/>
                <a:ea typeface="Calibri" panose="020F0502020204030204"/>
                <a:cs typeface="Calibri" panose="020F0502020204030204"/>
                <a:sym typeface="Calibri" panose="020F0502020204030204"/>
              </a:rPr>
              <a:t>: </a:t>
            </a:r>
            <a:r>
              <a:rPr lang="en-US" altLang="zh-CN" sz="800" b="1" dirty="0">
                <a:solidFill>
                  <a:schemeClr val="bg1"/>
                </a:solidFill>
                <a:latin typeface="Calibri" panose="020F0502020204030204"/>
                <a:cs typeface="Calibri" panose="020F0502020204030204"/>
              </a:rPr>
              <a:t>618-605-909</a:t>
            </a:r>
            <a:r>
              <a:rPr lang="en-GB" sz="800" b="1" dirty="0">
                <a:solidFill>
                  <a:schemeClr val="bg1"/>
                </a:solidFill>
                <a:latin typeface="Calibri" panose="020F0502020204030204"/>
                <a:cs typeface="Calibri" panose="020F0502020204030204"/>
              </a:rPr>
              <a:t> </a:t>
            </a:r>
            <a:endParaRPr lang="en-US" altLang="zh-CN" sz="800" b="1" dirty="0">
              <a:solidFill>
                <a:schemeClr val="bg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None/>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Tencent meeting link:</a:t>
            </a:r>
            <a:endParaRPr lang="en-US" altLang="zh-CN" sz="800" b="1" dirty="0">
              <a:solidFill>
                <a:schemeClr val="bg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None/>
            </a:pP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https://meeting.tencent.com/dm/Bw9Wv6V8ISfl</a:t>
            </a:r>
            <a:endParaRPr lang="en-US" altLang="zh-CN" sz="800" b="1" dirty="0">
              <a:solidFill>
                <a:schemeClr val="bg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None/>
            </a:pPr>
            <a:r>
              <a:rPr lang="en-GB" altLang="zh-CN" sz="800" b="1" dirty="0" err="1">
                <a:solidFill>
                  <a:schemeClr val="bg1"/>
                </a:solidFill>
                <a:latin typeface="Calibri" panose="020F0502020204030204"/>
                <a:ea typeface="Calibri" panose="020F0502020204030204"/>
                <a:cs typeface="Calibri" panose="020F0502020204030204"/>
                <a:sym typeface="Calibri" panose="020F0502020204030204"/>
              </a:rPr>
              <a:t>Bilibili</a:t>
            </a:r>
            <a:r>
              <a:rPr lang="zh-CN" altLang="en-US" sz="800" b="1" dirty="0">
                <a:solidFill>
                  <a:schemeClr val="bg1"/>
                </a:solidFill>
                <a:latin typeface="Calibri" panose="020F0502020204030204"/>
                <a:ea typeface="Calibri" panose="020F0502020204030204"/>
                <a:cs typeface="Calibri" panose="020F0502020204030204"/>
                <a:sym typeface="Calibri" panose="020F0502020204030204"/>
              </a:rPr>
              <a:t>：</a:t>
            </a:r>
            <a:r>
              <a:rPr lang="en-US" altLang="zh-CN" sz="800" b="1" dirty="0">
                <a:solidFill>
                  <a:schemeClr val="bg1"/>
                </a:solidFill>
                <a:latin typeface="Calibri" panose="020F0502020204030204"/>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1" name="Google Shape;143;p25"/>
          <p:cNvSpPr/>
          <p:nvPr/>
        </p:nvSpPr>
        <p:spPr>
          <a:xfrm>
            <a:off x="911104" y="6515660"/>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HOST</a:t>
            </a: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PANELIST</a:t>
            </a:r>
            <a:r>
              <a:rPr lang="en-GB"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25" name="Google Shape;142;p25"/>
          <p:cNvSpPr/>
          <p:nvPr/>
        </p:nvSpPr>
        <p:spPr>
          <a:xfrm>
            <a:off x="-453415" y="9250486"/>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Calibri" panose="020F0502020204030204"/>
                <a:cs typeface="Calibri" panose="020F0502020204030204"/>
              </a:rPr>
              <a:t>Sponsors</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pic>
        <p:nvPicPr>
          <p:cNvPr id="26" name="Google Shape;139;p25"/>
          <p:cNvPicPr preferRelativeResize="0">
            <a:picLocks noChangeAspect="1"/>
          </p:cNvPicPr>
          <p:nvPr/>
        </p:nvPicPr>
        <p:blipFill rotWithShape="1">
          <a:blip r:embed="rId2"/>
          <a:srcRect/>
          <a:stretch>
            <a:fillRect/>
          </a:stretch>
        </p:blipFill>
        <p:spPr>
          <a:xfrm>
            <a:off x="0" y="9571141"/>
            <a:ext cx="407204" cy="405902"/>
          </a:xfrm>
          <a:prstGeom prst="ellipse">
            <a:avLst/>
          </a:prstGeom>
          <a:noFill/>
          <a:ln>
            <a:noFill/>
          </a:ln>
        </p:spPr>
      </p:pic>
      <p:sp>
        <p:nvSpPr>
          <p:cNvPr id="4" name="Google Shape;157;p25"/>
          <p:cNvSpPr txBox="1"/>
          <p:nvPr/>
        </p:nvSpPr>
        <p:spPr>
          <a:xfrm>
            <a:off x="1203530" y="7556855"/>
            <a:ext cx="1357500" cy="568960"/>
          </a:xfrm>
          <a:prstGeom prst="rect">
            <a:avLst/>
          </a:prstGeom>
          <a:noFill/>
          <a:ln>
            <a:noFill/>
          </a:ln>
        </p:spPr>
        <p:txBody>
          <a:bodyPr spcFirstLastPara="1" wrap="square" lIns="91425" tIns="91425" rIns="91425" bIns="91425" anchor="t" anchorCtr="0">
            <a:spAutoFit/>
          </a:bodyPr>
          <a:lstStyle/>
          <a:p>
            <a:pPr algn="ctr">
              <a:lnSpc>
                <a:spcPct val="115000"/>
              </a:lnSpc>
            </a:pPr>
            <a:r>
              <a:rPr lang="en-US" altLang="zh-CN" sz="800" b="1" dirty="0">
                <a:solidFill>
                  <a:schemeClr val="bg1"/>
                </a:solidFill>
              </a:rPr>
              <a:t>Host</a:t>
            </a:r>
            <a:r>
              <a:rPr lang="zh-CN" altLang="en-US" sz="800" b="1" dirty="0">
                <a:solidFill>
                  <a:schemeClr val="bg1"/>
                </a:solidFill>
              </a:rPr>
              <a:t>：</a:t>
            </a:r>
            <a:r>
              <a:rPr lang="en-US" altLang="zh-CN" sz="800" b="1" dirty="0" err="1">
                <a:solidFill>
                  <a:schemeClr val="bg1"/>
                </a:solidFill>
                <a:sym typeface="+mn-ea"/>
              </a:rPr>
              <a:t>Jinkai</a:t>
            </a:r>
            <a:r>
              <a:rPr lang="en-US" altLang="zh-CN" sz="800" b="1" dirty="0">
                <a:solidFill>
                  <a:schemeClr val="bg1"/>
                </a:solidFill>
                <a:sym typeface="+mn-ea"/>
              </a:rPr>
              <a:t> Wang</a:t>
            </a:r>
            <a:endParaRPr lang="en-US" altLang="zh-CN" sz="800" b="1" dirty="0">
              <a:solidFill>
                <a:schemeClr val="bg1"/>
              </a:solidFill>
            </a:endParaRPr>
          </a:p>
          <a:p>
            <a:pPr algn="ctr">
              <a:lnSpc>
                <a:spcPct val="115000"/>
              </a:lnSpc>
            </a:pPr>
            <a:r>
              <a:rPr lang="en-US" altLang="zh-CN" sz="600" i="1" dirty="0">
                <a:solidFill>
                  <a:schemeClr val="bg1"/>
                </a:solidFill>
              </a:rPr>
              <a:t>Sun </a:t>
            </a:r>
            <a:r>
              <a:rPr lang="en-US" altLang="zh-CN" sz="600" i="1" dirty="0" err="1">
                <a:solidFill>
                  <a:schemeClr val="bg1"/>
                </a:solidFill>
              </a:rPr>
              <a:t>Yat-sen</a:t>
            </a:r>
            <a:r>
              <a:rPr lang="en-US" altLang="zh-CN" sz="600" i="1" dirty="0">
                <a:solidFill>
                  <a:schemeClr val="bg1"/>
                </a:solidFill>
              </a:rPr>
              <a:t> University</a:t>
            </a:r>
            <a:endParaRPr lang="en-US" altLang="zh-CN" sz="600" i="1" dirty="0">
              <a:solidFill>
                <a:schemeClr val="bg1"/>
              </a:solidFill>
            </a:endParaRPr>
          </a:p>
          <a:p>
            <a:pPr algn="ctr">
              <a:lnSpc>
                <a:spcPct val="115000"/>
              </a:lnSpc>
            </a:pPr>
            <a:endParaRPr lang="en-US" altLang="zh-CN" sz="800" b="1" dirty="0">
              <a:solidFill>
                <a:schemeClr val="bg1"/>
              </a:solidFill>
            </a:endParaRPr>
          </a:p>
        </p:txBody>
      </p:sp>
      <p:grpSp>
        <p:nvGrpSpPr>
          <p:cNvPr id="5" name="Group 4"/>
          <p:cNvGrpSpPr/>
          <p:nvPr/>
        </p:nvGrpSpPr>
        <p:grpSpPr>
          <a:xfrm>
            <a:off x="22457" y="8858546"/>
            <a:ext cx="2879240" cy="412523"/>
            <a:chOff x="938887" y="8330576"/>
            <a:chExt cx="2879240" cy="412523"/>
          </a:xfrm>
        </p:grpSpPr>
        <p:sp>
          <p:nvSpPr>
            <p:cNvPr id="6" name="Google Shape;159;p25"/>
            <p:cNvSpPr txBox="1"/>
            <p:nvPr/>
          </p:nvSpPr>
          <p:spPr>
            <a:xfrm>
              <a:off x="938887" y="8332254"/>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altLang="zh-CN" sz="800" b="1" dirty="0">
                  <a:solidFill>
                    <a:schemeClr val="bg1"/>
                  </a:solidFill>
                  <a:sym typeface="+mn-ea"/>
                </a:rPr>
                <a:t>Lin Huang</a:t>
              </a:r>
              <a:endParaRPr lang="en-US" altLang="zh-CN" sz="800" b="1" dirty="0">
                <a:solidFill>
                  <a:schemeClr val="bg1"/>
                </a:solidFill>
              </a:endParaRPr>
            </a:p>
            <a:p>
              <a:pPr marL="0" lvl="0" indent="0" algn="ctr" rtl="0">
                <a:lnSpc>
                  <a:spcPct val="115000"/>
                </a:lnSpc>
                <a:spcBef>
                  <a:spcPts val="0"/>
                </a:spcBef>
                <a:spcAft>
                  <a:spcPts val="0"/>
                </a:spcAft>
                <a:buNone/>
              </a:pPr>
              <a:r>
                <a:rPr lang="en-US" altLang="zh-CN" sz="500" i="1" dirty="0">
                  <a:solidFill>
                    <a:schemeClr val="bg1"/>
                  </a:solidFill>
                  <a:sym typeface="+mn-ea"/>
                </a:rPr>
                <a:t>Sun </a:t>
              </a:r>
              <a:r>
                <a:rPr lang="en-US" altLang="zh-CN" sz="500" i="1" dirty="0" err="1">
                  <a:solidFill>
                    <a:schemeClr val="bg1"/>
                  </a:solidFill>
                  <a:sym typeface="+mn-ea"/>
                </a:rPr>
                <a:t>Yat-sen</a:t>
              </a:r>
              <a:r>
                <a:rPr lang="en-US" altLang="zh-CN" sz="500" i="1" dirty="0">
                  <a:solidFill>
                    <a:schemeClr val="bg1"/>
                  </a:solidFill>
                  <a:sym typeface="+mn-ea"/>
                </a:rPr>
                <a:t> University</a:t>
              </a:r>
              <a:endParaRPr lang="en-US" sz="500" i="1" dirty="0">
                <a:solidFill>
                  <a:schemeClr val="bg1"/>
                </a:solidFill>
              </a:endParaRPr>
            </a:p>
          </p:txBody>
        </p:sp>
        <p:sp>
          <p:nvSpPr>
            <p:cNvPr id="7" name="Google Shape;160;p25"/>
            <p:cNvSpPr txBox="1"/>
            <p:nvPr/>
          </p:nvSpPr>
          <p:spPr>
            <a:xfrm>
              <a:off x="1854811" y="8330576"/>
              <a:ext cx="1035600" cy="26987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endParaRPr sz="500" i="1" dirty="0">
                <a:solidFill>
                  <a:schemeClr val="bg1"/>
                </a:solidFill>
              </a:endParaRPr>
            </a:p>
          </p:txBody>
        </p:sp>
        <p:sp>
          <p:nvSpPr>
            <p:cNvPr id="8" name="Google Shape;160;p25"/>
            <p:cNvSpPr txBox="1"/>
            <p:nvPr/>
          </p:nvSpPr>
          <p:spPr>
            <a:xfrm>
              <a:off x="2782527" y="8340179"/>
              <a:ext cx="1035600" cy="26987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endParaRPr lang="en-US" altLang="zh-CN" sz="500" i="1" dirty="0">
                <a:solidFill>
                  <a:schemeClr val="bg1"/>
                </a:solidFill>
              </a:endParaRPr>
            </a:p>
          </p:txBody>
        </p:sp>
      </p:grpSp>
      <p:grpSp>
        <p:nvGrpSpPr>
          <p:cNvPr id="40" name="组合 39"/>
          <p:cNvGrpSpPr/>
          <p:nvPr/>
        </p:nvGrpSpPr>
        <p:grpSpPr>
          <a:xfrm rot="0">
            <a:off x="180340" y="8065135"/>
            <a:ext cx="1562668" cy="796925"/>
            <a:chOff x="688978" y="8059663"/>
            <a:chExt cx="1562468" cy="796985"/>
          </a:xfrm>
        </p:grpSpPr>
        <p:sp>
          <p:nvSpPr>
            <p:cNvPr id="51" name="Oval 25"/>
            <p:cNvSpPr/>
            <p:nvPr/>
          </p:nvSpPr>
          <p:spPr>
            <a:xfrm>
              <a:off x="1567446" y="8064648"/>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30"/>
            <p:cNvSpPr/>
            <p:nvPr/>
          </p:nvSpPr>
          <p:spPr>
            <a:xfrm>
              <a:off x="688978" y="8059663"/>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图片 2" descr="伊成器无背景"/>
          <p:cNvPicPr>
            <a:picLocks noChangeAspect="1"/>
          </p:cNvPicPr>
          <p:nvPr/>
        </p:nvPicPr>
        <p:blipFill>
          <a:blip r:embed="rId3"/>
          <a:srcRect r="9104"/>
          <a:stretch>
            <a:fillRect/>
          </a:stretch>
        </p:blipFill>
        <p:spPr>
          <a:xfrm>
            <a:off x="1893570" y="775335"/>
            <a:ext cx="1654810" cy="2731770"/>
          </a:xfrm>
          <a:prstGeom prst="rect">
            <a:avLst/>
          </a:prstGeom>
        </p:spPr>
      </p:pic>
      <p:pic>
        <p:nvPicPr>
          <p:cNvPr id="15" name="图片 14" descr="GzRNA Club-伊成器教授-RNA精准靶向与干预二维码"/>
          <p:cNvPicPr/>
          <p:nvPr/>
        </p:nvPicPr>
        <p:blipFill>
          <a:blip r:embed="rId4"/>
          <a:stretch>
            <a:fillRect/>
          </a:stretch>
        </p:blipFill>
        <p:spPr>
          <a:xfrm>
            <a:off x="136525" y="2844213"/>
            <a:ext cx="590400" cy="586800"/>
          </a:xfrm>
          <a:prstGeom prst="rect">
            <a:avLst/>
          </a:prstGeom>
        </p:spPr>
      </p:pic>
      <p:pic>
        <p:nvPicPr>
          <p:cNvPr id="17" name="图片 16"/>
          <p:cNvPicPr/>
          <p:nvPr/>
        </p:nvPicPr>
        <p:blipFill>
          <a:blip r:embed="rId5"/>
          <a:stretch>
            <a:fillRect/>
          </a:stretch>
        </p:blipFill>
        <p:spPr>
          <a:xfrm>
            <a:off x="839470" y="2844213"/>
            <a:ext cx="590400" cy="586800"/>
          </a:xfrm>
          <a:prstGeom prst="rect">
            <a:avLst/>
          </a:prstGeom>
        </p:spPr>
      </p:pic>
      <p:sp>
        <p:nvSpPr>
          <p:cNvPr id="16" name="Google Shape;160;p25"/>
          <p:cNvSpPr txBox="1"/>
          <p:nvPr/>
        </p:nvSpPr>
        <p:spPr>
          <a:xfrm>
            <a:off x="889486" y="8858546"/>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en-US" sz="800" b="1" dirty="0">
                <a:solidFill>
                  <a:schemeClr val="bg1"/>
                </a:solidFill>
              </a:rPr>
              <a:t>Guanzheng Luo</a:t>
            </a:r>
            <a:endParaRPr sz="800" b="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rPr>
              <a:t>Sun </a:t>
            </a:r>
            <a:r>
              <a:rPr lang="en-US" sz="500" i="1" dirty="0" err="1">
                <a:solidFill>
                  <a:schemeClr val="bg1"/>
                </a:solidFill>
              </a:rPr>
              <a:t>Yat-sen</a:t>
            </a:r>
            <a:r>
              <a:rPr lang="en-US" sz="500" i="1" dirty="0">
                <a:solidFill>
                  <a:schemeClr val="bg1"/>
                </a:solidFill>
              </a:rPr>
              <a:t> University</a:t>
            </a:r>
            <a:endParaRPr sz="500" i="1" dirty="0">
              <a:solidFill>
                <a:schemeClr val="bg1"/>
              </a:solidFill>
            </a:endParaRPr>
          </a:p>
        </p:txBody>
      </p:sp>
      <p:sp>
        <p:nvSpPr>
          <p:cNvPr id="11" name="Google Shape;160;p25"/>
          <p:cNvSpPr txBox="1"/>
          <p:nvPr/>
        </p:nvSpPr>
        <p:spPr>
          <a:xfrm>
            <a:off x="1765132" y="8868149"/>
            <a:ext cx="1035600" cy="588010"/>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en-US" altLang="zh-CN" sz="800" b="1" dirty="0" err="1">
                <a:solidFill>
                  <a:schemeClr val="bg1"/>
                </a:solidFill>
                <a:sym typeface="+mn-ea"/>
              </a:rPr>
              <a:t>Zhichao</a:t>
            </a:r>
            <a:r>
              <a:rPr lang="en-US" altLang="zh-CN" sz="800" b="1" dirty="0">
                <a:solidFill>
                  <a:schemeClr val="bg1"/>
                </a:solidFill>
                <a:sym typeface="+mn-ea"/>
              </a:rPr>
              <a:t> Miao</a:t>
            </a:r>
            <a:endParaRPr lang="en-US" altLang="zh-CN" sz="800" b="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sym typeface="+mn-ea"/>
              </a:rPr>
              <a:t>Guangzhou Laboratory</a:t>
            </a:r>
            <a:endParaRPr lang="en-US" sz="500" i="1" dirty="0">
              <a:solidFill>
                <a:schemeClr val="bg1"/>
              </a:solidFill>
            </a:endParaRPr>
          </a:p>
          <a:p>
            <a:pPr marL="0" lvl="0" indent="0" algn="ctr" rtl="0">
              <a:lnSpc>
                <a:spcPct val="115000"/>
              </a:lnSpc>
              <a:spcBef>
                <a:spcPts val="0"/>
              </a:spcBef>
              <a:spcAft>
                <a:spcPts val="0"/>
              </a:spcAft>
              <a:buNone/>
            </a:pPr>
            <a:r>
              <a:rPr lang="en-US" sz="500" i="1" dirty="0">
                <a:solidFill>
                  <a:schemeClr val="bg1"/>
                </a:solidFill>
                <a:sym typeface="+mn-ea"/>
              </a:rPr>
              <a:t>Guangzhou Medical University</a:t>
            </a:r>
            <a:endParaRPr lang="en-US" altLang="zh-CN" sz="500" i="1" dirty="0">
              <a:solidFill>
                <a:schemeClr val="bg1"/>
              </a:solidFill>
            </a:endParaRPr>
          </a:p>
        </p:txBody>
      </p:sp>
      <p:pic>
        <p:nvPicPr>
          <p:cNvPr id="14" name="Picture 42" descr="A person wearing glasses and a suit&#10;&#10;Description automatically generated with medium confidence"/>
          <p:cNvPicPr>
            <a:picLocks noChangeAspect="1"/>
          </p:cNvPicPr>
          <p:nvPr/>
        </p:nvPicPr>
        <p:blipFill>
          <a:blip r:embed="rId6"/>
          <a:srcRect r="400" b="308"/>
          <a:stretch>
            <a:fillRect/>
          </a:stretch>
        </p:blipFill>
        <p:spPr>
          <a:xfrm>
            <a:off x="217625" y="8100624"/>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27" name="Oval 22"/>
          <p:cNvSpPr/>
          <p:nvPr/>
        </p:nvSpPr>
        <p:spPr>
          <a:xfrm>
            <a:off x="2812222" y="8067628"/>
            <a:ext cx="684088" cy="7919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nvGrpSpPr>
          <p:cNvPr id="30" name="组合 29"/>
          <p:cNvGrpSpPr/>
          <p:nvPr/>
        </p:nvGrpSpPr>
        <p:grpSpPr>
          <a:xfrm>
            <a:off x="1913890" y="8067993"/>
            <a:ext cx="683260" cy="791210"/>
            <a:chOff x="2888" y="12719"/>
            <a:chExt cx="1076" cy="1246"/>
          </a:xfrm>
        </p:grpSpPr>
        <p:sp>
          <p:nvSpPr>
            <p:cNvPr id="28" name="Oval 30"/>
            <p:cNvSpPr/>
            <p:nvPr/>
          </p:nvSpPr>
          <p:spPr>
            <a:xfrm>
              <a:off x="2888" y="12719"/>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29" name="Picture 3"/>
            <p:cNvPicPr>
              <a:picLocks noChangeAspect="1"/>
            </p:cNvPicPr>
            <p:nvPr/>
          </p:nvPicPr>
          <p:blipFill rotWithShape="1">
            <a:blip r:embed="rId7"/>
            <a:srcRect l="10920" t="7031" r="9268" b="33081"/>
            <a:stretch>
              <a:fillRect/>
            </a:stretch>
          </p:blipFill>
          <p:spPr>
            <a:xfrm>
              <a:off x="2926" y="12778"/>
              <a:ext cx="1003" cy="1129"/>
            </a:xfrm>
            <a:prstGeom prst="ellipse">
              <a:avLst/>
            </a:prstGeom>
          </p:spPr>
        </p:pic>
      </p:grpSp>
      <p:pic>
        <p:nvPicPr>
          <p:cNvPr id="31" name="图片 30" descr="林水宾无背景"/>
          <p:cNvPicPr>
            <a:picLocks noChangeAspect="1"/>
          </p:cNvPicPr>
          <p:nvPr/>
        </p:nvPicPr>
        <p:blipFill>
          <a:blip r:embed="rId8"/>
          <a:stretch>
            <a:fillRect/>
          </a:stretch>
        </p:blipFill>
        <p:spPr>
          <a:xfrm>
            <a:off x="2883535" y="8161655"/>
            <a:ext cx="543560" cy="671195"/>
          </a:xfrm>
          <a:prstGeom prst="ellipse">
            <a:avLst/>
          </a:prstGeom>
        </p:spPr>
      </p:pic>
      <p:pic>
        <p:nvPicPr>
          <p:cNvPr id="32" name="图片 31" descr="骆观正无背景"/>
          <p:cNvPicPr>
            <a:picLocks noChangeAspect="1"/>
          </p:cNvPicPr>
          <p:nvPr/>
        </p:nvPicPr>
        <p:blipFill>
          <a:blip r:embed="rId9"/>
          <a:srcRect r="17927" b="22214"/>
          <a:stretch>
            <a:fillRect/>
          </a:stretch>
        </p:blipFill>
        <p:spPr>
          <a:xfrm>
            <a:off x="1122045" y="8140065"/>
            <a:ext cx="558165" cy="704850"/>
          </a:xfrm>
          <a:prstGeom prst="ellipse">
            <a:avLst/>
          </a:prstGeom>
        </p:spPr>
      </p:pic>
      <p:sp>
        <p:nvSpPr>
          <p:cNvPr id="33" name="Google Shape;160;p25"/>
          <p:cNvSpPr txBox="1"/>
          <p:nvPr/>
        </p:nvSpPr>
        <p:spPr>
          <a:xfrm>
            <a:off x="2654132" y="8868149"/>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en-US" altLang="zh-CN" sz="800" b="1" dirty="0">
                <a:solidFill>
                  <a:schemeClr val="bg1"/>
                </a:solidFill>
                <a:sym typeface="+mn-ea"/>
              </a:rPr>
              <a:t>Shuibin Lin</a:t>
            </a:r>
            <a:endParaRPr lang="en-US" altLang="zh-CN" sz="800" b="1" dirty="0">
              <a:solidFill>
                <a:schemeClr val="bg1"/>
              </a:solidFill>
            </a:endParaRPr>
          </a:p>
          <a:p>
            <a:pPr marL="0" lvl="0" indent="0" algn="ctr" rtl="0">
              <a:lnSpc>
                <a:spcPct val="115000"/>
              </a:lnSpc>
              <a:spcBef>
                <a:spcPts val="0"/>
              </a:spcBef>
              <a:spcAft>
                <a:spcPts val="0"/>
              </a:spcAft>
              <a:buNone/>
            </a:pPr>
            <a:r>
              <a:rPr lang="en-US" altLang="zh-CN" sz="500" i="1" dirty="0">
                <a:solidFill>
                  <a:schemeClr val="bg1"/>
                </a:solidFill>
              </a:rPr>
              <a:t>Sun Yat-sen University</a:t>
            </a:r>
            <a:endParaRPr lang="en-US" altLang="zh-CN" sz="500"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30" name="Oval 22"/>
          <p:cNvSpPr/>
          <p:nvPr/>
        </p:nvSpPr>
        <p:spPr>
          <a:xfrm>
            <a:off x="1535015" y="6748293"/>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31" name="Picture 23" descr="A person wearing glasses&#10;&#10;Description automatically generated with medium confidence"/>
          <p:cNvPicPr>
            <a:picLocks noChangeAspect="1"/>
          </p:cNvPicPr>
          <p:nvPr/>
        </p:nvPicPr>
        <p:blipFill>
          <a:blip r:embed="rId1"/>
          <a:srcRect r="96"/>
          <a:stretch>
            <a:fillRect/>
          </a:stretch>
        </p:blipFill>
        <p:spPr>
          <a:xfrm>
            <a:off x="1585076" y="6784293"/>
            <a:ext cx="598508" cy="7200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aphicFrame>
        <p:nvGraphicFramePr>
          <p:cNvPr id="2" name="Table 2"/>
          <p:cNvGraphicFramePr>
            <a:graphicFrameLocks noGrp="1"/>
          </p:cNvGraphicFramePr>
          <p:nvPr/>
        </p:nvGraphicFramePr>
        <p:xfrm>
          <a:off x="3980929" y="0"/>
          <a:ext cx="996187" cy="1854200"/>
        </p:xfrm>
        <a:graphic>
          <a:graphicData uri="http://schemas.openxmlformats.org/drawingml/2006/table">
            <a:tbl>
              <a:tblPr firstRow="1" bandRow="1">
                <a:tableStyleId>{5C22544A-7EE6-4342-B048-85BDC9FD1C3A}</a:tableStyleId>
              </a:tblPr>
              <a:tblGrid>
                <a:gridCol w="996187"/>
              </a:tblGrid>
              <a:tr h="370840">
                <a:tc>
                  <a:txBody>
                    <a:bodyPr/>
                    <a:lstStyle/>
                    <a:p>
                      <a:endParaRPr lang="en-US" dirty="0"/>
                    </a:p>
                  </a:txBody>
                  <a:tcPr>
                    <a:solidFill>
                      <a:srgbClr val="548135"/>
                    </a:solidFill>
                  </a:tcPr>
                </a:tc>
              </a:tr>
              <a:tr h="370840">
                <a:tc>
                  <a:txBody>
                    <a:bodyPr/>
                    <a:lstStyle/>
                    <a:p>
                      <a:endParaRPr lang="en-US" dirty="0"/>
                    </a:p>
                  </a:txBody>
                  <a:tcPr>
                    <a:solidFill>
                      <a:srgbClr val="A5FF69"/>
                    </a:solidFill>
                  </a:tcPr>
                </a:tc>
              </a:tr>
              <a:tr h="370840">
                <a:tc>
                  <a:txBody>
                    <a:bodyPr/>
                    <a:lstStyle/>
                    <a:p>
                      <a:endParaRPr lang="en-US" dirty="0"/>
                    </a:p>
                  </a:txBody>
                  <a:tcPr>
                    <a:solidFill>
                      <a:srgbClr val="223516"/>
                    </a:solidFill>
                  </a:tcPr>
                </a:tc>
              </a:tr>
              <a:tr h="370840">
                <a:tc>
                  <a:txBody>
                    <a:bodyPr/>
                    <a:lstStyle/>
                    <a:p>
                      <a:endParaRPr lang="en-US" dirty="0"/>
                    </a:p>
                  </a:txBody>
                  <a:tcPr>
                    <a:solidFill>
                      <a:srgbClr val="8BE19A"/>
                    </a:solidFill>
                  </a:tcPr>
                </a:tc>
              </a:tr>
              <a:tr h="370840">
                <a:tc>
                  <a:txBody>
                    <a:bodyPr/>
                    <a:lstStyle/>
                    <a:p>
                      <a:endParaRPr lang="en-US" dirty="0"/>
                    </a:p>
                  </a:txBody>
                  <a:tcPr>
                    <a:solidFill>
                      <a:srgbClr val="4AD9B0"/>
                    </a:solidFill>
                  </a:tcPr>
                </a:tc>
              </a:tr>
            </a:tbl>
          </a:graphicData>
        </a:graphic>
      </p:graphicFrame>
      <p:sp>
        <p:nvSpPr>
          <p:cNvPr id="3" name="Google Shape;133;p25"/>
          <p:cNvSpPr/>
          <p:nvPr/>
        </p:nvSpPr>
        <p:spPr>
          <a:xfrm>
            <a:off x="346710" y="891187"/>
            <a:ext cx="2957986" cy="355217"/>
          </a:xfrm>
          <a:prstGeom prst="rect">
            <a:avLst/>
          </a:prstGeom>
          <a:noFill/>
          <a:ln>
            <a:noFill/>
          </a:ln>
        </p:spPr>
        <p:txBody>
          <a:bodyPr spcFirstLastPara="1" wrap="square" lIns="86550" tIns="43250" rIns="86550" bIns="43250" anchor="ctr" anchorCtr="0">
            <a:noAutofit/>
          </a:bodyPr>
          <a:lstStyle/>
          <a:p>
            <a:pPr algn="ctr"/>
            <a:r>
              <a:rPr lang="en-US" altLang="zh-CN"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RNA</a:t>
            </a:r>
            <a:r>
              <a:rPr lang="zh-CN" altLang="en-US"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精准靶向与干预</a:t>
            </a:r>
            <a:endParaRPr lang="zh-CN" altLang="en-US"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endParaRPr>
          </a:p>
        </p:txBody>
      </p:sp>
      <p:sp>
        <p:nvSpPr>
          <p:cNvPr id="10" name="TextBox 9"/>
          <p:cNvSpPr txBox="1"/>
          <p:nvPr/>
        </p:nvSpPr>
        <p:spPr>
          <a:xfrm>
            <a:off x="30797" y="3962675"/>
            <a:ext cx="3538855" cy="1969770"/>
          </a:xfrm>
          <a:prstGeom prst="rect">
            <a:avLst/>
          </a:prstGeom>
          <a:noFill/>
        </p:spPr>
        <p:txBody>
          <a:bodyPr wrap="square">
            <a:noAutofit/>
          </a:bodyPr>
          <a:lstStyle/>
          <a:p>
            <a:r>
              <a:rPr lang="zh-CN" altLang="en-US" sz="1000" b="1" dirty="0">
                <a:solidFill>
                  <a:schemeClr val="lt1"/>
                </a:solidFill>
                <a:effectLst>
                  <a:outerShdw blurRad="373812" dist="38100" algn="l" rotWithShape="0">
                    <a:prstClr val="black"/>
                  </a:outerShdw>
                </a:effectLst>
                <a:latin typeface="Calibri" panose="020F0502020204030204"/>
                <a:ea typeface="黑体" panose="02010609060101010101" pitchFamily="49" charset="-122"/>
                <a:cs typeface="Calibri" panose="020F0502020204030204"/>
              </a:rPr>
              <a:t>摘要</a:t>
            </a:r>
            <a:r>
              <a:rPr lang="zh-CN" altLang="en-US" sz="1000" dirty="0">
                <a:solidFill>
                  <a:schemeClr val="bg1"/>
                </a:solidFill>
                <a:latin typeface="黑体" panose="02010609060101010101" pitchFamily="49" charset="-122"/>
                <a:ea typeface="黑体" panose="02010609060101010101" pitchFamily="49" charset="-122"/>
              </a:rPr>
              <a:t>：</a:t>
            </a:r>
            <a:endParaRPr lang="zh-CN" altLang="en-US" sz="1000" dirty="0">
              <a:solidFill>
                <a:schemeClr val="bg1"/>
              </a:solidFill>
              <a:latin typeface="黑体" panose="02010609060101010101" pitchFamily="49" charset="-122"/>
              <a:ea typeface="黑体" panose="02010609060101010101" pitchFamily="49" charset="-122"/>
            </a:endParaRPr>
          </a:p>
          <a:p>
            <a:r>
              <a:rPr lang="en-US" altLang="zh-C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伊成器，北京大学</a:t>
            </a:r>
            <a:r>
              <a:rPr lang="en-US" altLang="zh-C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教授</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国家自然科学基金委杰出青年基金及首批延续资助获得者</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国家高层次人才特殊支持计划科技创新领军人才。</a:t>
            </a:r>
            <a:endParaRPr lang="zh-CN" altLang="en-US" sz="800" dirty="0">
              <a:solidFill>
                <a:schemeClr val="bg1"/>
              </a:solidFill>
              <a:latin typeface="Microsoft YaHei UI" panose="020B0503020204020204" pitchFamily="34" charset="-122"/>
              <a:ea typeface="Microsoft YaHei UI" panose="020B0503020204020204" pitchFamily="34" charset="-122"/>
            </a:endParaRPr>
          </a:p>
          <a:p>
            <a:pPr algn="just"/>
            <a:r>
              <a:rPr lang="en-US" altLang="zh-CN" sz="800" dirty="0">
                <a:solidFill>
                  <a:schemeClr val="bg1"/>
                </a:solidFill>
                <a:latin typeface="Microsoft YaHei UI" panose="020B0503020204020204" pitchFamily="34" charset="-122"/>
                <a:ea typeface="Microsoft YaHei UI" panose="020B0503020204020204" pitchFamily="34" charset="-122"/>
              </a:rPr>
              <a:t>       2005</a:t>
            </a:r>
            <a:r>
              <a:rPr lang="zh-CN" altLang="en-US" sz="800" dirty="0">
                <a:solidFill>
                  <a:schemeClr val="bg1"/>
                </a:solidFill>
                <a:latin typeface="Microsoft YaHei UI" panose="020B0503020204020204" pitchFamily="34" charset="-122"/>
                <a:ea typeface="Microsoft YaHei UI" panose="020B0503020204020204" pitchFamily="34" charset="-122"/>
              </a:rPr>
              <a:t>年本科毕业于中国科学技术大学化学系，</a:t>
            </a:r>
            <a:r>
              <a:rPr lang="en-US" altLang="zh-CN" sz="800" dirty="0">
                <a:solidFill>
                  <a:schemeClr val="bg1"/>
                </a:solidFill>
                <a:latin typeface="Microsoft YaHei UI" panose="020B0503020204020204" pitchFamily="34" charset="-122"/>
                <a:ea typeface="Microsoft YaHei UI" panose="020B0503020204020204" pitchFamily="34" charset="-122"/>
              </a:rPr>
              <a:t>2010</a:t>
            </a:r>
            <a:r>
              <a:rPr lang="zh-CN" altLang="en-US" sz="800" dirty="0">
                <a:solidFill>
                  <a:schemeClr val="bg1"/>
                </a:solidFill>
                <a:latin typeface="Microsoft YaHei UI" panose="020B0503020204020204" pitchFamily="34" charset="-122"/>
                <a:ea typeface="Microsoft YaHei UI" panose="020B0503020204020204" pitchFamily="34" charset="-122"/>
              </a:rPr>
              <a:t>年获得美国芝加哥大学化学博士学位，随后在芝大生物化学与分子生物学系从事博士后工作，</a:t>
            </a:r>
            <a:r>
              <a:rPr lang="en-US" altLang="zh-CN" sz="800" dirty="0">
                <a:solidFill>
                  <a:schemeClr val="bg1"/>
                </a:solidFill>
                <a:latin typeface="Microsoft YaHei UI" panose="020B0503020204020204" pitchFamily="34" charset="-122"/>
                <a:ea typeface="Microsoft YaHei UI" panose="020B0503020204020204" pitchFamily="34" charset="-122"/>
              </a:rPr>
              <a:t>2011</a:t>
            </a:r>
            <a:r>
              <a:rPr lang="zh-CN" altLang="en-US" sz="800" dirty="0">
                <a:solidFill>
                  <a:schemeClr val="bg1"/>
                </a:solidFill>
                <a:latin typeface="Microsoft YaHei UI" panose="020B0503020204020204" pitchFamily="34" charset="-122"/>
                <a:ea typeface="Microsoft YaHei UI" panose="020B0503020204020204" pitchFamily="34" charset="-122"/>
              </a:rPr>
              <a:t>年</a:t>
            </a:r>
            <a:r>
              <a:rPr lang="en-US" altLang="zh-CN" sz="800" dirty="0">
                <a:solidFill>
                  <a:schemeClr val="bg1"/>
                </a:solidFill>
                <a:latin typeface="Microsoft YaHei UI" panose="020B0503020204020204" pitchFamily="34" charset="-122"/>
                <a:ea typeface="Microsoft YaHei UI" panose="020B0503020204020204" pitchFamily="34" charset="-122"/>
              </a:rPr>
              <a:t>12</a:t>
            </a:r>
            <a:r>
              <a:rPr lang="zh-CN" altLang="en-US" sz="800" dirty="0">
                <a:solidFill>
                  <a:schemeClr val="bg1"/>
                </a:solidFill>
                <a:latin typeface="Microsoft YaHei UI" panose="020B0503020204020204" pitchFamily="34" charset="-122"/>
                <a:ea typeface="Microsoft YaHei UI" panose="020B0503020204020204" pitchFamily="34" charset="-122"/>
              </a:rPr>
              <a:t>月回国入职北京大学生命学院和北大</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清华生命联合中心从事科研工作至今；</a:t>
            </a:r>
            <a:r>
              <a:rPr lang="en-US" altLang="zh-CN" sz="800" dirty="0">
                <a:solidFill>
                  <a:schemeClr val="bg1"/>
                </a:solidFill>
                <a:latin typeface="Microsoft YaHei UI" panose="020B0503020204020204" pitchFamily="34" charset="-122"/>
                <a:ea typeface="Microsoft YaHei UI" panose="020B0503020204020204" pitchFamily="34" charset="-122"/>
              </a:rPr>
              <a:t>2014</a:t>
            </a:r>
            <a:r>
              <a:rPr lang="zh-CN" altLang="en-US" sz="800" dirty="0">
                <a:solidFill>
                  <a:schemeClr val="bg1"/>
                </a:solidFill>
                <a:latin typeface="Microsoft YaHei UI" panose="020B0503020204020204" pitchFamily="34" charset="-122"/>
                <a:ea typeface="Microsoft YaHei UI" panose="020B0503020204020204" pitchFamily="34" charset="-122"/>
              </a:rPr>
              <a:t>年成为北京大学化学与分子工程学院双聘教授。</a:t>
            </a:r>
            <a:r>
              <a:rPr lang="en-US" altLang="zh-CN" sz="800" dirty="0">
                <a:solidFill>
                  <a:schemeClr val="bg1"/>
                </a:solidFill>
                <a:latin typeface="Microsoft YaHei UI" panose="020B0503020204020204" pitchFamily="34" charset="-122"/>
                <a:ea typeface="Microsoft YaHei UI" panose="020B0503020204020204" pitchFamily="34" charset="-122"/>
              </a:rPr>
              <a:t>2015</a:t>
            </a:r>
            <a:r>
              <a:rPr lang="zh-CN" altLang="en-US" sz="800" dirty="0">
                <a:solidFill>
                  <a:schemeClr val="bg1"/>
                </a:solidFill>
                <a:latin typeface="Microsoft YaHei UI" panose="020B0503020204020204" pitchFamily="34" charset="-122"/>
                <a:ea typeface="Microsoft YaHei UI" panose="020B0503020204020204" pitchFamily="34" charset="-122"/>
              </a:rPr>
              <a:t>年度国家优秀青年基金获得者，</a:t>
            </a:r>
            <a:r>
              <a:rPr lang="en-US" altLang="zh-CN" sz="800" dirty="0">
                <a:solidFill>
                  <a:schemeClr val="bg1"/>
                </a:solidFill>
                <a:latin typeface="Microsoft YaHei UI" panose="020B0503020204020204" pitchFamily="34" charset="-122"/>
                <a:ea typeface="Microsoft YaHei UI" panose="020B0503020204020204" pitchFamily="34" charset="-122"/>
              </a:rPr>
              <a:t>2018</a:t>
            </a:r>
            <a:r>
              <a:rPr lang="zh-CN" altLang="en-US" sz="800" dirty="0">
                <a:solidFill>
                  <a:schemeClr val="bg1"/>
                </a:solidFill>
                <a:latin typeface="Microsoft YaHei UI" panose="020B0503020204020204" pitchFamily="34" charset="-122"/>
                <a:ea typeface="Microsoft YaHei UI" panose="020B0503020204020204" pitchFamily="34" charset="-122"/>
              </a:rPr>
              <a:t>年度国家杰出青年基金获得者及</a:t>
            </a:r>
            <a:r>
              <a:rPr lang="en-US" altLang="zh-CN" sz="800" dirty="0">
                <a:solidFill>
                  <a:schemeClr val="bg1"/>
                </a:solidFill>
                <a:latin typeface="Microsoft YaHei UI" panose="020B0503020204020204" pitchFamily="34" charset="-122"/>
                <a:ea typeface="Microsoft YaHei UI" panose="020B0503020204020204" pitchFamily="34" charset="-122"/>
              </a:rPr>
              <a:t>2024</a:t>
            </a:r>
            <a:r>
              <a:rPr lang="zh-CN" altLang="en-US" sz="800" dirty="0">
                <a:solidFill>
                  <a:schemeClr val="bg1"/>
                </a:solidFill>
                <a:latin typeface="Microsoft YaHei UI" panose="020B0503020204020204" pitchFamily="34" charset="-122"/>
                <a:ea typeface="Microsoft YaHei UI" panose="020B0503020204020204" pitchFamily="34" charset="-122"/>
              </a:rPr>
              <a:t>年度国家杰出青年基金延续资助获得者。</a:t>
            </a:r>
            <a:r>
              <a:rPr lang="en-US" altLang="zh-CN" sz="800" dirty="0">
                <a:solidFill>
                  <a:schemeClr val="bg1"/>
                </a:solidFill>
                <a:latin typeface="Microsoft YaHei UI" panose="020B0503020204020204" pitchFamily="34" charset="-122"/>
                <a:ea typeface="Microsoft YaHei UI" panose="020B0503020204020204" pitchFamily="34" charset="-122"/>
              </a:rPr>
              <a:t>2019</a:t>
            </a:r>
            <a:r>
              <a:rPr lang="zh-CN" altLang="en-US" sz="800" dirty="0">
                <a:solidFill>
                  <a:schemeClr val="bg1"/>
                </a:solidFill>
                <a:latin typeface="Microsoft YaHei UI" panose="020B0503020204020204" pitchFamily="34" charset="-122"/>
                <a:ea typeface="Microsoft YaHei UI" panose="020B0503020204020204" pitchFamily="34" charset="-122"/>
              </a:rPr>
              <a:t>年入选国家</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万人计划</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科技创新领军人才，</a:t>
            </a:r>
            <a:r>
              <a:rPr lang="en-US" altLang="zh-CN" sz="800" dirty="0">
                <a:solidFill>
                  <a:schemeClr val="bg1"/>
                </a:solidFill>
                <a:latin typeface="Microsoft YaHei UI" panose="020B0503020204020204" pitchFamily="34" charset="-122"/>
                <a:ea typeface="Microsoft YaHei UI" panose="020B0503020204020204" pitchFamily="34" charset="-122"/>
              </a:rPr>
              <a:t>2023</a:t>
            </a:r>
            <a:r>
              <a:rPr lang="zh-CN" altLang="en-US" sz="800" dirty="0">
                <a:solidFill>
                  <a:schemeClr val="bg1"/>
                </a:solidFill>
                <a:latin typeface="Microsoft YaHei UI" panose="020B0503020204020204" pitchFamily="34" charset="-122"/>
                <a:ea typeface="Microsoft YaHei UI" panose="020B0503020204020204" pitchFamily="34" charset="-122"/>
              </a:rPr>
              <a:t>年成为科技部重点研发计划首席科学家。</a:t>
            </a:r>
            <a:r>
              <a:rPr lang="en-US" altLang="zh-CN" sz="800" dirty="0">
                <a:solidFill>
                  <a:schemeClr val="bg1"/>
                </a:solidFill>
                <a:latin typeface="Microsoft YaHei UI" panose="020B0503020204020204" pitchFamily="34" charset="-122"/>
                <a:ea typeface="Microsoft YaHei UI" panose="020B0503020204020204" pitchFamily="34" charset="-122"/>
              </a:rPr>
              <a:t>2024</a:t>
            </a:r>
            <a:r>
              <a:rPr lang="zh-CN" altLang="en-US" sz="800" dirty="0">
                <a:solidFill>
                  <a:schemeClr val="bg1"/>
                </a:solidFill>
                <a:latin typeface="Microsoft YaHei UI" panose="020B0503020204020204" pitchFamily="34" charset="-122"/>
                <a:ea typeface="Microsoft YaHei UI" panose="020B0503020204020204" pitchFamily="34" charset="-122"/>
              </a:rPr>
              <a:t>年加入核糖核酸北京研究中心。</a:t>
            </a:r>
            <a:r>
              <a:rPr lang="en-US" altLang="zh-C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现任基因功能研究与操控全国重点实验室副主任。</a:t>
            </a:r>
            <a:endParaRPr lang="zh-CN" altLang="en-US" sz="800" dirty="0">
              <a:solidFill>
                <a:schemeClr val="bg1"/>
              </a:solidFill>
              <a:latin typeface="Microsoft YaHei UI" panose="020B0503020204020204" pitchFamily="34" charset="-122"/>
              <a:ea typeface="Microsoft YaHei UI" panose="020B0503020204020204" pitchFamily="34" charset="-122"/>
            </a:endParaRPr>
          </a:p>
          <a:p>
            <a:pPr algn="just"/>
            <a:r>
              <a:rPr lang="en-US" altLang="zh-CN" sz="800" dirty="0">
                <a:solidFill>
                  <a:schemeClr val="bg1"/>
                </a:solidFill>
                <a:latin typeface="Microsoft YaHei UI" panose="020B0503020204020204" pitchFamily="34" charset="-122"/>
                <a:ea typeface="Microsoft YaHei UI" panose="020B0503020204020204" pitchFamily="34" charset="-122"/>
              </a:rPr>
              <a:t>       </a:t>
            </a:r>
            <a:r>
              <a:rPr lang="zh-CN" altLang="en-US" sz="800" dirty="0">
                <a:solidFill>
                  <a:schemeClr val="bg1"/>
                </a:solidFill>
                <a:latin typeface="Microsoft YaHei UI" panose="020B0503020204020204" pitchFamily="34" charset="-122"/>
                <a:ea typeface="Microsoft YaHei UI" panose="020B0503020204020204" pitchFamily="34" charset="-122"/>
              </a:rPr>
              <a:t>伊成器团队致力于核酸修饰的研究，在修饰的定量检测、功能研究及精准操控方面取得了系列进展，拓展了中国科学家主导表观转录组学新方向。在</a:t>
            </a:r>
            <a:r>
              <a:rPr lang="en-US" altLang="zh-CN" sz="800" dirty="0">
                <a:solidFill>
                  <a:schemeClr val="bg1"/>
                </a:solidFill>
                <a:latin typeface="Microsoft YaHei UI" panose="020B0503020204020204" pitchFamily="34" charset="-122"/>
                <a:ea typeface="Microsoft YaHei UI" panose="020B0503020204020204" pitchFamily="34" charset="-122"/>
              </a:rPr>
              <a:t>Nature</a:t>
            </a:r>
            <a:r>
              <a:rPr lang="zh-CN" altLang="en-US" sz="800" dirty="0">
                <a:solidFill>
                  <a:schemeClr val="bg1"/>
                </a:solidFill>
                <a:latin typeface="Microsoft YaHei UI" panose="020B0503020204020204" pitchFamily="34" charset="-122"/>
                <a:ea typeface="Microsoft YaHei UI" panose="020B0503020204020204" pitchFamily="34" charset="-122"/>
              </a:rPr>
              <a:t>、</a:t>
            </a:r>
            <a:r>
              <a:rPr lang="en-US" altLang="zh-CN" sz="800" dirty="0">
                <a:solidFill>
                  <a:schemeClr val="bg1"/>
                </a:solidFill>
                <a:latin typeface="Microsoft YaHei UI" panose="020B0503020204020204" pitchFamily="34" charset="-122"/>
                <a:ea typeface="Microsoft YaHei UI" panose="020B0503020204020204" pitchFamily="34" charset="-122"/>
              </a:rPr>
              <a:t>Nature Biotechnology</a:t>
            </a:r>
            <a:r>
              <a:rPr lang="zh-CN" altLang="en-US" sz="800" dirty="0">
                <a:solidFill>
                  <a:schemeClr val="bg1"/>
                </a:solidFill>
                <a:latin typeface="Microsoft YaHei UI" panose="020B0503020204020204" pitchFamily="34" charset="-122"/>
                <a:ea typeface="Microsoft YaHei UI" panose="020B0503020204020204" pitchFamily="34" charset="-122"/>
              </a:rPr>
              <a:t>等杂志发表通讯作者论文</a:t>
            </a:r>
            <a:r>
              <a:rPr lang="en-US" altLang="zh-CN" sz="800" dirty="0">
                <a:solidFill>
                  <a:schemeClr val="bg1"/>
                </a:solidFill>
                <a:latin typeface="Microsoft YaHei UI" panose="020B0503020204020204" pitchFamily="34" charset="-122"/>
                <a:ea typeface="Microsoft YaHei UI" panose="020B0503020204020204" pitchFamily="34" charset="-122"/>
              </a:rPr>
              <a:t>60</a:t>
            </a:r>
            <a:r>
              <a:rPr lang="zh-CN" altLang="en-US" sz="800" dirty="0">
                <a:solidFill>
                  <a:schemeClr val="bg1"/>
                </a:solidFill>
                <a:latin typeface="Microsoft YaHei UI" panose="020B0503020204020204" pitchFamily="34" charset="-122"/>
                <a:ea typeface="Microsoft YaHei UI" panose="020B0503020204020204" pitchFamily="34" charset="-122"/>
              </a:rPr>
              <a:t>余篇。课题组发展的</a:t>
            </a:r>
            <a:r>
              <a:rPr lang="en-US" altLang="zh-CN" sz="800" dirty="0">
                <a:solidFill>
                  <a:schemeClr val="bg1"/>
                </a:solidFill>
                <a:latin typeface="Microsoft YaHei UI" panose="020B0503020204020204" pitchFamily="34" charset="-122"/>
                <a:ea typeface="Microsoft YaHei UI" panose="020B0503020204020204" pitchFamily="34" charset="-122"/>
              </a:rPr>
              <a:t>RNA</a:t>
            </a:r>
            <a:r>
              <a:rPr lang="zh-CN" altLang="en-US" sz="800" dirty="0">
                <a:solidFill>
                  <a:schemeClr val="bg1"/>
                </a:solidFill>
                <a:latin typeface="Microsoft YaHei UI" panose="020B0503020204020204" pitchFamily="34" charset="-122"/>
                <a:ea typeface="Microsoft YaHei UI" panose="020B0503020204020204" pitchFamily="34" charset="-122"/>
              </a:rPr>
              <a:t>修饰检测技术被</a:t>
            </a:r>
            <a:r>
              <a:rPr lang="en-US" altLang="zh-CN" sz="800" dirty="0">
                <a:solidFill>
                  <a:schemeClr val="bg1"/>
                </a:solidFill>
                <a:latin typeface="Microsoft YaHei UI" panose="020B0503020204020204" pitchFamily="34" charset="-122"/>
                <a:ea typeface="Microsoft YaHei UI" panose="020B0503020204020204" pitchFamily="34" charset="-122"/>
              </a:rPr>
              <a:t>Nature Methods</a:t>
            </a:r>
            <a:r>
              <a:rPr lang="zh-CN" altLang="en-US" sz="800" dirty="0">
                <a:solidFill>
                  <a:schemeClr val="bg1"/>
                </a:solidFill>
                <a:latin typeface="Microsoft YaHei UI" panose="020B0503020204020204" pitchFamily="34" charset="-122"/>
                <a:ea typeface="Microsoft YaHei UI" panose="020B0503020204020204" pitchFamily="34" charset="-122"/>
              </a:rPr>
              <a:t>杂志评为</a:t>
            </a:r>
            <a:r>
              <a:rPr lang="en-US" altLang="zh-CN" sz="800" dirty="0">
                <a:solidFill>
                  <a:schemeClr val="bg1"/>
                </a:solidFill>
                <a:latin typeface="Microsoft YaHei UI" panose="020B0503020204020204" pitchFamily="34" charset="-122"/>
                <a:ea typeface="Microsoft YaHei UI" panose="020B0503020204020204" pitchFamily="34" charset="-122"/>
              </a:rPr>
              <a:t>“2016</a:t>
            </a:r>
            <a:r>
              <a:rPr lang="zh-CN" altLang="en-US" sz="800" dirty="0">
                <a:solidFill>
                  <a:schemeClr val="bg1"/>
                </a:solidFill>
                <a:latin typeface="Microsoft YaHei UI" panose="020B0503020204020204" pitchFamily="34" charset="-122"/>
                <a:ea typeface="Microsoft YaHei UI" panose="020B0503020204020204" pitchFamily="34" charset="-122"/>
              </a:rPr>
              <a:t>年度方法</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a:t>
            </a:r>
            <a:r>
              <a:rPr lang="en-US" altLang="zh-CN" sz="800" dirty="0">
                <a:solidFill>
                  <a:schemeClr val="bg1"/>
                </a:solidFill>
                <a:latin typeface="Microsoft YaHei UI" panose="020B0503020204020204" pitchFamily="34" charset="-122"/>
                <a:ea typeface="Microsoft YaHei UI" panose="020B0503020204020204" pitchFamily="34" charset="-122"/>
              </a:rPr>
              <a:t>Mol Cell</a:t>
            </a:r>
            <a:r>
              <a:rPr lang="zh-CN" altLang="en-US" sz="800" dirty="0">
                <a:solidFill>
                  <a:schemeClr val="bg1"/>
                </a:solidFill>
                <a:latin typeface="Microsoft YaHei UI" panose="020B0503020204020204" pitchFamily="34" charset="-122"/>
                <a:ea typeface="Microsoft YaHei UI" panose="020B0503020204020204" pitchFamily="34" charset="-122"/>
              </a:rPr>
              <a:t>评为</a:t>
            </a:r>
            <a:r>
              <a:rPr lang="en-US" altLang="zh-CN" sz="800" dirty="0">
                <a:solidFill>
                  <a:schemeClr val="bg1"/>
                </a:solidFill>
                <a:latin typeface="Microsoft YaHei UI" panose="020B0503020204020204" pitchFamily="34" charset="-122"/>
                <a:ea typeface="Microsoft YaHei UI" panose="020B0503020204020204" pitchFamily="34" charset="-122"/>
              </a:rPr>
              <a:t>“2017</a:t>
            </a:r>
            <a:r>
              <a:rPr lang="zh-CN" altLang="en-US" sz="800" dirty="0">
                <a:solidFill>
                  <a:schemeClr val="bg1"/>
                </a:solidFill>
                <a:latin typeface="Microsoft YaHei UI" panose="020B0503020204020204" pitchFamily="34" charset="-122"/>
                <a:ea typeface="Microsoft YaHei UI" panose="020B0503020204020204" pitchFamily="34" charset="-122"/>
              </a:rPr>
              <a:t>年度最佳论文</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，并入选国家</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十三五</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科技创新成就展；</a:t>
            </a:r>
            <a:r>
              <a:rPr lang="en-US" altLang="zh-CN" sz="800" dirty="0">
                <a:solidFill>
                  <a:schemeClr val="bg1"/>
                </a:solidFill>
                <a:latin typeface="Microsoft YaHei UI" panose="020B0503020204020204" pitchFamily="34" charset="-122"/>
                <a:ea typeface="Microsoft YaHei UI" panose="020B0503020204020204" pitchFamily="34" charset="-122"/>
              </a:rPr>
              <a:t>RNA</a:t>
            </a:r>
            <a:r>
              <a:rPr lang="zh-CN" altLang="en-US" sz="800" dirty="0">
                <a:solidFill>
                  <a:schemeClr val="bg1"/>
                </a:solidFill>
                <a:latin typeface="Microsoft YaHei UI" panose="020B0503020204020204" pitchFamily="34" charset="-122"/>
                <a:ea typeface="Microsoft YaHei UI" panose="020B0503020204020204" pitchFamily="34" charset="-122"/>
              </a:rPr>
              <a:t>编辑技术入选</a:t>
            </a:r>
            <a:r>
              <a:rPr lang="en-US" altLang="zh-CN" sz="800" dirty="0">
                <a:solidFill>
                  <a:schemeClr val="bg1"/>
                </a:solidFill>
                <a:latin typeface="Microsoft YaHei UI" panose="020B0503020204020204" pitchFamily="34" charset="-122"/>
                <a:ea typeface="Microsoft YaHei UI" panose="020B0503020204020204" pitchFamily="34" charset="-122"/>
              </a:rPr>
              <a:t>Mol Cell</a:t>
            </a:r>
            <a:r>
              <a:rPr lang="zh-CN" altLang="en-US" sz="800" dirty="0">
                <a:solidFill>
                  <a:schemeClr val="bg1"/>
                </a:solidFill>
                <a:latin typeface="Microsoft YaHei UI" panose="020B0503020204020204" pitchFamily="34" charset="-122"/>
                <a:ea typeface="Microsoft YaHei UI" panose="020B0503020204020204" pitchFamily="34" charset="-122"/>
              </a:rPr>
              <a:t>的</a:t>
            </a:r>
            <a:r>
              <a:rPr lang="en-US" altLang="zh-CN" sz="800" dirty="0">
                <a:solidFill>
                  <a:schemeClr val="bg1"/>
                </a:solidFill>
                <a:latin typeface="Microsoft YaHei UI" panose="020B0503020204020204" pitchFamily="34" charset="-122"/>
                <a:ea typeface="Microsoft YaHei UI" panose="020B0503020204020204" pitchFamily="34" charset="-122"/>
              </a:rPr>
              <a:t> “2023</a:t>
            </a:r>
            <a:r>
              <a:rPr lang="zh-CN" altLang="en-US" sz="800" dirty="0">
                <a:solidFill>
                  <a:schemeClr val="bg1"/>
                </a:solidFill>
                <a:latin typeface="Microsoft YaHei UI" panose="020B0503020204020204" pitchFamily="34" charset="-122"/>
                <a:ea typeface="Microsoft YaHei UI" panose="020B0503020204020204" pitchFamily="34" charset="-122"/>
              </a:rPr>
              <a:t>年度最佳论文</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。曾获中国化学会</a:t>
            </a:r>
            <a:r>
              <a:rPr lang="en-US" altLang="zh-CN" sz="800" dirty="0">
                <a:solidFill>
                  <a:schemeClr val="bg1"/>
                </a:solidFill>
                <a:latin typeface="Microsoft YaHei UI" panose="020B0503020204020204" pitchFamily="34" charset="-122"/>
                <a:ea typeface="Microsoft YaHei UI" panose="020B0503020204020204" pitchFamily="34" charset="-122"/>
              </a:rPr>
              <a:t>-</a:t>
            </a:r>
            <a:r>
              <a:rPr lang="zh-CN" altLang="en-US" sz="800" dirty="0">
                <a:solidFill>
                  <a:schemeClr val="bg1"/>
                </a:solidFill>
                <a:latin typeface="Microsoft YaHei UI" panose="020B0503020204020204" pitchFamily="34" charset="-122"/>
                <a:ea typeface="Microsoft YaHei UI" panose="020B0503020204020204" pitchFamily="34" charset="-122"/>
              </a:rPr>
              <a:t>英国皇家学会青年化学奖、中源协和生命医学奖创新突破奖、茅以升北京青年科技奖、中国青年科技奖、科学探索奖等荣誉与奖项。</a:t>
            </a:r>
            <a:endParaRPr lang="zh-CN" altLang="en-US" sz="800" dirty="0">
              <a:solidFill>
                <a:schemeClr val="bg1"/>
              </a:solidFill>
              <a:latin typeface="Microsoft YaHei UI" panose="020B0503020204020204" pitchFamily="34" charset="-122"/>
              <a:ea typeface="Microsoft YaHei UI" panose="020B0503020204020204" pitchFamily="34" charset="-122"/>
            </a:endParaRPr>
          </a:p>
        </p:txBody>
      </p:sp>
      <p:sp>
        <p:nvSpPr>
          <p:cNvPr id="53" name="Google Shape;143;p25"/>
          <p:cNvSpPr/>
          <p:nvPr/>
        </p:nvSpPr>
        <p:spPr>
          <a:xfrm>
            <a:off x="911104" y="6471210"/>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主持人＆嘉宾</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4" name="Google Shape;142;p25"/>
          <p:cNvSpPr/>
          <p:nvPr/>
        </p:nvSpPr>
        <p:spPr>
          <a:xfrm>
            <a:off x="-453415" y="9250486"/>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Calibri" panose="020F0502020204030204"/>
                <a:cs typeface="Calibri" panose="020F0502020204030204"/>
              </a:rPr>
              <a:t>赞助商</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6" name="Google Shape;142;p25"/>
          <p:cNvSpPr/>
          <p:nvPr/>
        </p:nvSpPr>
        <p:spPr>
          <a:xfrm>
            <a:off x="1389869" y="3479307"/>
            <a:ext cx="2072005" cy="593725"/>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algn="r"/>
            <a:r>
              <a:rPr lang="zh-CN" altLang="en-US" sz="1200" b="1" dirty="0" err="1">
                <a:solidFill>
                  <a:schemeClr val="lt1"/>
                </a:solidFill>
                <a:effectLst>
                  <a:outerShdw blurRad="373812" dist="38100" algn="l" rotWithShape="0">
                    <a:prstClr val="black"/>
                  </a:outerShdw>
                </a:effectLst>
                <a:latin typeface="Calibri" panose="020F0502020204030204"/>
                <a:cs typeface="Calibri" panose="020F0502020204030204"/>
              </a:rPr>
              <a:t>伊成器</a:t>
            </a:r>
            <a:r>
              <a:rPr lang="en-US" altLang="zh-CN" sz="1200" b="1" dirty="0" err="1">
                <a:solidFill>
                  <a:schemeClr val="lt1"/>
                </a:solidFill>
                <a:effectLst>
                  <a:outerShdw blurRad="373812" dist="38100" algn="l" rotWithShape="0">
                    <a:prstClr val="black"/>
                  </a:outerShdw>
                </a:effectLst>
                <a:latin typeface="Calibri" panose="020F0502020204030204"/>
                <a:cs typeface="Calibri" panose="020F0502020204030204"/>
              </a:rPr>
              <a:t> </a:t>
            </a:r>
            <a:r>
              <a:rPr lang="zh-CN" altLang="en-US" sz="1200" b="1" dirty="0" err="1">
                <a:solidFill>
                  <a:schemeClr val="lt1"/>
                </a:solidFill>
                <a:effectLst>
                  <a:outerShdw blurRad="373812" dist="38100" algn="l" rotWithShape="0">
                    <a:prstClr val="black"/>
                  </a:outerShdw>
                </a:effectLst>
                <a:latin typeface="Calibri" panose="020F0502020204030204"/>
                <a:ea typeface="宋体" panose="02010600030101010101" pitchFamily="2" charset="-122"/>
                <a:cs typeface="Calibri" panose="020F0502020204030204"/>
              </a:rPr>
              <a:t>教授</a:t>
            </a:r>
            <a:endParaRPr lang="en-US" sz="1200" b="1" dirty="0" err="1">
              <a:solidFill>
                <a:schemeClr val="lt1"/>
              </a:solidFill>
              <a:effectLst>
                <a:outerShdw blurRad="373812" dist="38100" algn="l" rotWithShape="0">
                  <a:prstClr val="black"/>
                </a:outerShdw>
              </a:effectLst>
              <a:latin typeface="Calibri" panose="020F0502020204030204"/>
              <a:cs typeface="Calibri" panose="020F0502020204030204"/>
            </a:endParaRPr>
          </a:p>
          <a:p>
            <a:pPr algn="r"/>
            <a:r>
              <a:rPr lang="zh-CN" altLang="en-US" sz="1200" b="1" dirty="0" err="1">
                <a:solidFill>
                  <a:schemeClr val="lt1"/>
                </a:solidFill>
                <a:effectLst>
                  <a:outerShdw blurRad="373812" dist="38100" algn="l" rotWithShape="0">
                    <a:prstClr val="black"/>
                  </a:outerShdw>
                </a:effectLst>
                <a:latin typeface="Calibri" panose="020F0502020204030204"/>
                <a:cs typeface="Calibri" panose="020F0502020204030204"/>
              </a:rPr>
              <a:t>北京大学生命科学学院</a:t>
            </a:r>
            <a:endParaRPr lang="en-US"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12" name="Google Shape;157;p25"/>
          <p:cNvSpPr txBox="1"/>
          <p:nvPr/>
        </p:nvSpPr>
        <p:spPr>
          <a:xfrm>
            <a:off x="1230696" y="7565220"/>
            <a:ext cx="1357500" cy="410845"/>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主持人：</a:t>
            </a:r>
            <a:r>
              <a:rPr lang="zh-CN" altLang="en-US" sz="800" b="1" dirty="0">
                <a:solidFill>
                  <a:schemeClr val="bg1"/>
                </a:solidFill>
                <a:sym typeface="+mn-ea"/>
              </a:rPr>
              <a:t>王金凯</a:t>
            </a:r>
            <a:endParaRPr lang="zh-CN" altLang="en-US" sz="800" dirty="0">
              <a:solidFill>
                <a:schemeClr val="bg1"/>
              </a:solidFill>
            </a:endParaRPr>
          </a:p>
          <a:p>
            <a:pPr marL="0" lvl="0" indent="0" algn="ctr" rtl="0">
              <a:lnSpc>
                <a:spcPct val="115000"/>
              </a:lnSpc>
              <a:spcBef>
                <a:spcPts val="0"/>
              </a:spcBef>
              <a:spcAft>
                <a:spcPts val="0"/>
              </a:spcAft>
              <a:buNone/>
            </a:pPr>
            <a:r>
              <a:rPr lang="zh-CN" altLang="en-US" sz="500" i="1" dirty="0">
                <a:solidFill>
                  <a:schemeClr val="bg1"/>
                </a:solidFill>
              </a:rPr>
              <a:t>中山大学</a:t>
            </a:r>
            <a:endParaRPr lang="en-US" altLang="zh-CN" sz="500" i="1" dirty="0">
              <a:solidFill>
                <a:schemeClr val="bg1"/>
              </a:solidFill>
            </a:endParaRPr>
          </a:p>
        </p:txBody>
      </p:sp>
      <p:pic>
        <p:nvPicPr>
          <p:cNvPr id="37" name="Google Shape;139;p25"/>
          <p:cNvPicPr preferRelativeResize="0">
            <a:picLocks noChangeAspect="1"/>
          </p:cNvPicPr>
          <p:nvPr/>
        </p:nvPicPr>
        <p:blipFill rotWithShape="1">
          <a:blip r:embed="rId2"/>
          <a:srcRect/>
          <a:stretch>
            <a:fillRect/>
          </a:stretch>
        </p:blipFill>
        <p:spPr>
          <a:xfrm>
            <a:off x="0" y="9571141"/>
            <a:ext cx="407204" cy="405902"/>
          </a:xfrm>
          <a:prstGeom prst="ellipse">
            <a:avLst/>
          </a:prstGeom>
          <a:noFill/>
          <a:ln>
            <a:noFill/>
          </a:ln>
        </p:spPr>
      </p:pic>
      <p:sp>
        <p:nvSpPr>
          <p:cNvPr id="19" name="Google Shape;138;p25"/>
          <p:cNvSpPr txBox="1"/>
          <p:nvPr/>
        </p:nvSpPr>
        <p:spPr>
          <a:xfrm>
            <a:off x="52050" y="1450513"/>
            <a:ext cx="2032655" cy="1378585"/>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北京时间:   2025-5-7 10:00</a:t>
            </a:r>
            <a:r>
              <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rPr>
              <a:t>-11:00 AM</a:t>
            </a: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 </a:t>
            </a:r>
            <a:endPar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endParaRPr>
          </a:p>
          <a:p>
            <a:pPr>
              <a:lnSpc>
                <a:spcPct val="150000"/>
              </a:lnSpc>
            </a:pP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腾讯会议ID: </a:t>
            </a: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618-605-909 </a:t>
            </a:r>
            <a:endPar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None/>
            </a:pP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腾讯会议链接:</a:t>
            </a:r>
            <a:endPar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None/>
            </a:pP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https://meeting.tencent.com/dm/Bw9Wv6V8ISfl</a:t>
            </a:r>
            <a:endPar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None/>
            </a:pPr>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sym typeface="Calibri" panose="020F0502020204030204"/>
              </a:rPr>
              <a:t>哔哩哔哩：https://live.bilibili.com/26427894</a:t>
            </a:r>
            <a:endParaRPr lang="en-GB" altLang="zh-CN" sz="800" b="1" dirty="0">
              <a:solidFill>
                <a:schemeClr val="bg1"/>
              </a:solidFill>
              <a:latin typeface="+mn-lt"/>
              <a:ea typeface="Calibri" panose="020F0502020204030204"/>
              <a:cs typeface="+mn-lt"/>
              <a:sym typeface="Calibri" panose="020F0502020204030204"/>
            </a:endParaRPr>
          </a:p>
        </p:txBody>
      </p:sp>
      <p:pic>
        <p:nvPicPr>
          <p:cNvPr id="21" name="图片 20" descr="伊成器无背景"/>
          <p:cNvPicPr>
            <a:picLocks noChangeAspect="1"/>
          </p:cNvPicPr>
          <p:nvPr/>
        </p:nvPicPr>
        <p:blipFill>
          <a:blip r:embed="rId3"/>
          <a:srcRect r="7953"/>
          <a:stretch>
            <a:fillRect/>
          </a:stretch>
        </p:blipFill>
        <p:spPr>
          <a:xfrm>
            <a:off x="1893570" y="775335"/>
            <a:ext cx="1675765" cy="2731770"/>
          </a:xfrm>
          <a:prstGeom prst="rect">
            <a:avLst/>
          </a:prstGeom>
        </p:spPr>
      </p:pic>
      <p:pic>
        <p:nvPicPr>
          <p:cNvPr id="27" name="图片 26" descr="GzRNA Club-伊成器教授-RNA精准靶向与干预二维码"/>
          <p:cNvPicPr/>
          <p:nvPr/>
        </p:nvPicPr>
        <p:blipFill>
          <a:blip r:embed="rId4"/>
          <a:stretch>
            <a:fillRect/>
          </a:stretch>
        </p:blipFill>
        <p:spPr>
          <a:xfrm>
            <a:off x="136525" y="2844213"/>
            <a:ext cx="590400" cy="586800"/>
          </a:xfrm>
          <a:prstGeom prst="rect">
            <a:avLst/>
          </a:prstGeom>
        </p:spPr>
      </p:pic>
      <p:pic>
        <p:nvPicPr>
          <p:cNvPr id="28" name="图片 27"/>
          <p:cNvPicPr/>
          <p:nvPr/>
        </p:nvPicPr>
        <p:blipFill>
          <a:blip r:embed="rId5"/>
          <a:stretch>
            <a:fillRect/>
          </a:stretch>
        </p:blipFill>
        <p:spPr>
          <a:xfrm>
            <a:off x="839470" y="2844213"/>
            <a:ext cx="590400" cy="586800"/>
          </a:xfrm>
          <a:prstGeom prst="rect">
            <a:avLst/>
          </a:prstGeom>
        </p:spPr>
      </p:pic>
      <p:grpSp>
        <p:nvGrpSpPr>
          <p:cNvPr id="40" name="组合 39"/>
          <p:cNvGrpSpPr/>
          <p:nvPr/>
        </p:nvGrpSpPr>
        <p:grpSpPr>
          <a:xfrm rot="0">
            <a:off x="180340" y="8065135"/>
            <a:ext cx="1562668" cy="796925"/>
            <a:chOff x="688978" y="8059663"/>
            <a:chExt cx="1562468" cy="796985"/>
          </a:xfrm>
        </p:grpSpPr>
        <p:sp>
          <p:nvSpPr>
            <p:cNvPr id="51" name="Oval 25"/>
            <p:cNvSpPr/>
            <p:nvPr/>
          </p:nvSpPr>
          <p:spPr>
            <a:xfrm>
              <a:off x="1567446" y="8064648"/>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6" name="Oval 30"/>
            <p:cNvSpPr/>
            <p:nvPr/>
          </p:nvSpPr>
          <p:spPr>
            <a:xfrm>
              <a:off x="688978" y="8059663"/>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pic>
        <p:nvPicPr>
          <p:cNvPr id="14" name="Picture 42" descr="A person wearing glasses and a suit&#10;&#10;Description automatically generated with medium confidence"/>
          <p:cNvPicPr>
            <a:picLocks noChangeAspect="1"/>
          </p:cNvPicPr>
          <p:nvPr/>
        </p:nvPicPr>
        <p:blipFill>
          <a:blip r:embed="rId6"/>
          <a:srcRect r="400" b="308"/>
          <a:stretch>
            <a:fillRect/>
          </a:stretch>
        </p:blipFill>
        <p:spPr>
          <a:xfrm>
            <a:off x="217625" y="8100624"/>
            <a:ext cx="606114" cy="71778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9" name="Oval 22"/>
          <p:cNvSpPr/>
          <p:nvPr/>
        </p:nvSpPr>
        <p:spPr>
          <a:xfrm>
            <a:off x="2812222" y="8067628"/>
            <a:ext cx="684088" cy="7919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grpSp>
        <p:nvGrpSpPr>
          <p:cNvPr id="11" name="组合 10"/>
          <p:cNvGrpSpPr/>
          <p:nvPr/>
        </p:nvGrpSpPr>
        <p:grpSpPr>
          <a:xfrm>
            <a:off x="1913890" y="8067993"/>
            <a:ext cx="683260" cy="791210"/>
            <a:chOff x="2888" y="12719"/>
            <a:chExt cx="1076" cy="1246"/>
          </a:xfrm>
        </p:grpSpPr>
        <p:sp>
          <p:nvSpPr>
            <p:cNvPr id="13" name="Oval 30"/>
            <p:cNvSpPr/>
            <p:nvPr/>
          </p:nvSpPr>
          <p:spPr>
            <a:xfrm>
              <a:off x="2888" y="12719"/>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29" name="Picture 3"/>
            <p:cNvPicPr>
              <a:picLocks noChangeAspect="1"/>
            </p:cNvPicPr>
            <p:nvPr/>
          </p:nvPicPr>
          <p:blipFill rotWithShape="1">
            <a:blip r:embed="rId7"/>
            <a:srcRect l="10920" t="7031" r="9268" b="33081"/>
            <a:stretch>
              <a:fillRect/>
            </a:stretch>
          </p:blipFill>
          <p:spPr>
            <a:xfrm>
              <a:off x="2926" y="12778"/>
              <a:ext cx="1003" cy="1129"/>
            </a:xfrm>
            <a:prstGeom prst="ellipse">
              <a:avLst/>
            </a:prstGeom>
          </p:spPr>
        </p:pic>
      </p:grpSp>
      <p:pic>
        <p:nvPicPr>
          <p:cNvPr id="20" name="图片 19" descr="林水宾无背景"/>
          <p:cNvPicPr>
            <a:picLocks noChangeAspect="1"/>
          </p:cNvPicPr>
          <p:nvPr/>
        </p:nvPicPr>
        <p:blipFill>
          <a:blip r:embed="rId8"/>
          <a:stretch>
            <a:fillRect/>
          </a:stretch>
        </p:blipFill>
        <p:spPr>
          <a:xfrm>
            <a:off x="2883535" y="8161655"/>
            <a:ext cx="543560" cy="671195"/>
          </a:xfrm>
          <a:prstGeom prst="ellipse">
            <a:avLst/>
          </a:prstGeom>
        </p:spPr>
      </p:pic>
      <p:pic>
        <p:nvPicPr>
          <p:cNvPr id="32" name="图片 31" descr="骆观正无背景"/>
          <p:cNvPicPr>
            <a:picLocks noChangeAspect="1"/>
          </p:cNvPicPr>
          <p:nvPr/>
        </p:nvPicPr>
        <p:blipFill>
          <a:blip r:embed="rId9"/>
          <a:srcRect r="17927" b="22214"/>
          <a:stretch>
            <a:fillRect/>
          </a:stretch>
        </p:blipFill>
        <p:spPr>
          <a:xfrm>
            <a:off x="1122045" y="8140065"/>
            <a:ext cx="558165" cy="704850"/>
          </a:xfrm>
          <a:prstGeom prst="ellipse">
            <a:avLst/>
          </a:prstGeom>
        </p:spPr>
      </p:pic>
      <p:grpSp>
        <p:nvGrpSpPr>
          <p:cNvPr id="22" name="Group 4"/>
          <p:cNvGrpSpPr/>
          <p:nvPr/>
        </p:nvGrpSpPr>
        <p:grpSpPr>
          <a:xfrm>
            <a:off x="232" y="8871246"/>
            <a:ext cx="2901465" cy="412523"/>
            <a:chOff x="916662" y="8330576"/>
            <a:chExt cx="2901465" cy="412523"/>
          </a:xfrm>
        </p:grpSpPr>
        <p:sp>
          <p:nvSpPr>
            <p:cNvPr id="24" name="Google Shape;159;p25"/>
            <p:cNvSpPr txBox="1"/>
            <p:nvPr/>
          </p:nvSpPr>
          <p:spPr>
            <a:xfrm>
              <a:off x="916662" y="8332254"/>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zh-CN" altLang="en-US" sz="800" b="1" dirty="0">
                  <a:solidFill>
                    <a:schemeClr val="bg1"/>
                  </a:solidFill>
                </a:rPr>
                <a:t>黄林</a:t>
              </a:r>
              <a:endParaRPr lang="zh-CN" altLang="en-US" sz="800" b="1" dirty="0">
                <a:solidFill>
                  <a:schemeClr val="bg1"/>
                </a:solidFill>
              </a:endParaRPr>
            </a:p>
            <a:p>
              <a:pPr marL="0" lvl="0" algn="ctr" rtl="0">
                <a:lnSpc>
                  <a:spcPct val="115000"/>
                </a:lnSpc>
                <a:spcBef>
                  <a:spcPts val="0"/>
                </a:spcBef>
                <a:spcAft>
                  <a:spcPts val="0"/>
                </a:spcAft>
                <a:buSzTx/>
                <a:buNone/>
              </a:pPr>
              <a:r>
                <a:rPr lang="zh-CN" altLang="en-US" sz="500" i="1" dirty="0">
                  <a:solidFill>
                    <a:schemeClr val="bg1"/>
                  </a:solidFill>
                  <a:sym typeface="+mn-ea"/>
                </a:rPr>
                <a:t>中山大学</a:t>
              </a:r>
              <a:endParaRPr lang="zh-CN" altLang="en-US" sz="500" i="1" dirty="0">
                <a:solidFill>
                  <a:schemeClr val="bg1"/>
                </a:solidFill>
              </a:endParaRPr>
            </a:p>
          </p:txBody>
        </p:sp>
        <p:sp>
          <p:nvSpPr>
            <p:cNvPr id="25" name="Google Shape;160;p25"/>
            <p:cNvSpPr txBox="1"/>
            <p:nvPr/>
          </p:nvSpPr>
          <p:spPr>
            <a:xfrm>
              <a:off x="1854811" y="8330576"/>
              <a:ext cx="1035600" cy="26987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endParaRPr sz="500" i="1" dirty="0">
                <a:solidFill>
                  <a:schemeClr val="bg1"/>
                </a:solidFill>
              </a:endParaRPr>
            </a:p>
          </p:txBody>
        </p:sp>
        <p:sp>
          <p:nvSpPr>
            <p:cNvPr id="33" name="Google Shape;160;p25"/>
            <p:cNvSpPr txBox="1"/>
            <p:nvPr/>
          </p:nvSpPr>
          <p:spPr>
            <a:xfrm>
              <a:off x="2782527" y="8340179"/>
              <a:ext cx="1035600" cy="26987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endParaRPr lang="en-US" altLang="zh-CN" sz="500" i="1" dirty="0">
                <a:solidFill>
                  <a:schemeClr val="bg1"/>
                </a:solidFill>
              </a:endParaRPr>
            </a:p>
          </p:txBody>
        </p:sp>
      </p:grpSp>
      <p:sp>
        <p:nvSpPr>
          <p:cNvPr id="35" name="Google Shape;160;p25"/>
          <p:cNvSpPr txBox="1"/>
          <p:nvPr/>
        </p:nvSpPr>
        <p:spPr>
          <a:xfrm>
            <a:off x="899646" y="8871246"/>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indent="0" algn="ctr" rtl="0">
              <a:lnSpc>
                <a:spcPct val="115000"/>
              </a:lnSpc>
              <a:spcBef>
                <a:spcPts val="0"/>
              </a:spcBef>
              <a:spcAft>
                <a:spcPts val="0"/>
              </a:spcAft>
              <a:buNone/>
            </a:pPr>
            <a:r>
              <a:rPr lang="zh-CN" altLang="en-US" sz="800" b="1" dirty="0">
                <a:solidFill>
                  <a:schemeClr val="bg1"/>
                </a:solidFill>
              </a:rPr>
              <a:t>骆观正</a:t>
            </a:r>
            <a:endParaRPr lang="zh-CN" altLang="en-US" sz="800" b="1" dirty="0">
              <a:solidFill>
                <a:schemeClr val="bg1"/>
              </a:solidFill>
            </a:endParaRPr>
          </a:p>
          <a:p>
            <a:pPr marL="0" lvl="0" algn="ctr" rtl="0">
              <a:lnSpc>
                <a:spcPct val="115000"/>
              </a:lnSpc>
              <a:spcBef>
                <a:spcPts val="0"/>
              </a:spcBef>
              <a:spcAft>
                <a:spcPts val="0"/>
              </a:spcAft>
              <a:buSzTx/>
              <a:buNone/>
            </a:pPr>
            <a:r>
              <a:rPr lang="zh-CN" altLang="en-US" sz="500" i="1" dirty="0">
                <a:solidFill>
                  <a:schemeClr val="bg1"/>
                </a:solidFill>
              </a:rPr>
              <a:t>中山大学</a:t>
            </a:r>
            <a:endParaRPr lang="zh-CN" altLang="en-US" sz="500" i="1" dirty="0">
              <a:solidFill>
                <a:schemeClr val="bg1"/>
              </a:solidFill>
            </a:endParaRPr>
          </a:p>
        </p:txBody>
      </p:sp>
      <p:sp>
        <p:nvSpPr>
          <p:cNvPr id="36" name="Google Shape;160;p25"/>
          <p:cNvSpPr txBox="1"/>
          <p:nvPr/>
        </p:nvSpPr>
        <p:spPr>
          <a:xfrm>
            <a:off x="1765132" y="8880849"/>
            <a:ext cx="1035600" cy="499110"/>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algn="ctr" rtl="0">
              <a:lnSpc>
                <a:spcPct val="115000"/>
              </a:lnSpc>
              <a:spcBef>
                <a:spcPts val="0"/>
              </a:spcBef>
              <a:spcAft>
                <a:spcPts val="0"/>
              </a:spcAft>
              <a:buSzTx/>
              <a:buNone/>
            </a:pPr>
            <a:r>
              <a:rPr lang="zh-CN" altLang="en-US" sz="800" b="1" dirty="0">
                <a:solidFill>
                  <a:schemeClr val="bg1"/>
                </a:solidFill>
                <a:sym typeface="+mn-ea"/>
              </a:rPr>
              <a:t>苗智超</a:t>
            </a:r>
            <a:endParaRPr lang="zh-CN" altLang="en-US" sz="800" b="1" dirty="0">
              <a:solidFill>
                <a:schemeClr val="bg1"/>
              </a:solidFill>
            </a:endParaRPr>
          </a:p>
          <a:p>
            <a:pPr marL="0" lvl="0" algn="ctr" rtl="0">
              <a:lnSpc>
                <a:spcPct val="115000"/>
              </a:lnSpc>
              <a:spcBef>
                <a:spcPts val="0"/>
              </a:spcBef>
              <a:spcAft>
                <a:spcPts val="0"/>
              </a:spcAft>
              <a:buSzTx/>
              <a:buNone/>
            </a:pPr>
            <a:r>
              <a:rPr lang="zh-CN" altLang="en-US" sz="500" i="1" dirty="0">
                <a:solidFill>
                  <a:schemeClr val="bg1"/>
                </a:solidFill>
                <a:sym typeface="+mn-ea"/>
              </a:rPr>
              <a:t>广州实验室</a:t>
            </a:r>
            <a:endParaRPr lang="zh-CN" altLang="en-US" sz="500" i="1" dirty="0">
              <a:solidFill>
                <a:schemeClr val="bg1"/>
              </a:solidFill>
            </a:endParaRPr>
          </a:p>
          <a:p>
            <a:pPr marL="0" lvl="0" algn="ctr" rtl="0">
              <a:lnSpc>
                <a:spcPct val="115000"/>
              </a:lnSpc>
              <a:spcBef>
                <a:spcPts val="0"/>
              </a:spcBef>
              <a:spcAft>
                <a:spcPts val="0"/>
              </a:spcAft>
              <a:buSzTx/>
              <a:buNone/>
            </a:pPr>
            <a:r>
              <a:rPr lang="zh-CN" altLang="en-US" sz="500" i="1" dirty="0">
                <a:solidFill>
                  <a:schemeClr val="bg1"/>
                </a:solidFill>
                <a:sym typeface="+mn-ea"/>
              </a:rPr>
              <a:t>广州医科大学</a:t>
            </a:r>
            <a:endParaRPr lang="zh-CN" altLang="en-US" sz="500" i="1" dirty="0">
              <a:solidFill>
                <a:schemeClr val="bg1"/>
              </a:solidFill>
            </a:endParaRPr>
          </a:p>
        </p:txBody>
      </p:sp>
      <p:sp>
        <p:nvSpPr>
          <p:cNvPr id="38" name="Google Shape;160;p25"/>
          <p:cNvSpPr txBox="1"/>
          <p:nvPr/>
        </p:nvSpPr>
        <p:spPr>
          <a:xfrm>
            <a:off x="2654132" y="8880849"/>
            <a:ext cx="1035600" cy="410845"/>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p>
            <a:pPr marL="0" lvl="0" algn="ctr" rtl="0">
              <a:lnSpc>
                <a:spcPct val="115000"/>
              </a:lnSpc>
              <a:spcBef>
                <a:spcPts val="0"/>
              </a:spcBef>
              <a:spcAft>
                <a:spcPts val="0"/>
              </a:spcAft>
              <a:buSzTx/>
              <a:buNone/>
            </a:pPr>
            <a:r>
              <a:rPr lang="zh-CN" altLang="en-US" sz="800" b="1" dirty="0">
                <a:solidFill>
                  <a:schemeClr val="bg1"/>
                </a:solidFill>
              </a:rPr>
              <a:t>林水宾</a:t>
            </a:r>
            <a:endParaRPr lang="zh-CN" altLang="en-US" sz="800" b="1" dirty="0">
              <a:solidFill>
                <a:schemeClr val="bg1"/>
              </a:solidFill>
            </a:endParaRPr>
          </a:p>
          <a:p>
            <a:pPr marL="0" lvl="0" indent="0" algn="ctr" rtl="0">
              <a:lnSpc>
                <a:spcPct val="115000"/>
              </a:lnSpc>
              <a:spcBef>
                <a:spcPts val="0"/>
              </a:spcBef>
              <a:spcAft>
                <a:spcPts val="0"/>
              </a:spcAft>
              <a:buNone/>
            </a:pPr>
            <a:r>
              <a:rPr lang="zh-CN" altLang="en-US" sz="500" i="1" dirty="0">
                <a:solidFill>
                  <a:schemeClr val="bg1"/>
                </a:solidFill>
              </a:rPr>
              <a:t>中山大学</a:t>
            </a:r>
            <a:endParaRPr lang="zh-CN" altLang="en-US" sz="500" i="1" dirty="0">
              <a:solidFill>
                <a:schemeClr val="bg1"/>
              </a:solidFill>
            </a:endParaRPr>
          </a:p>
        </p:txBody>
      </p:sp>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2665</Words>
  <Application>WPS 演示</Application>
  <PresentationFormat>自定义</PresentationFormat>
  <Paragraphs>71</Paragraphs>
  <Slides>2</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vt:i4>
      </vt:variant>
    </vt:vector>
  </HeadingPairs>
  <TitlesOfParts>
    <vt:vector size="12" baseType="lpstr">
      <vt:lpstr>Arial</vt:lpstr>
      <vt:lpstr>宋体</vt:lpstr>
      <vt:lpstr>Wingdings</vt:lpstr>
      <vt:lpstr>Arial</vt:lpstr>
      <vt:lpstr>Calibri</vt:lpstr>
      <vt:lpstr>Microsoft YaHei UI</vt:lpstr>
      <vt:lpstr>黑体</vt:lpstr>
      <vt:lpstr>微软雅黑</vt:lpstr>
      <vt:lpstr>Arial Unicode MS</vt: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Yangzhuoran</dc:creator>
  <cp:lastModifiedBy>一只叶霉</cp:lastModifiedBy>
  <cp:revision>162</cp:revision>
  <cp:lastPrinted>2023-11-28T10:04:00Z</cp:lastPrinted>
  <dcterms:created xsi:type="dcterms:W3CDTF">2023-11-28T10:04:00Z</dcterms:created>
  <dcterms:modified xsi:type="dcterms:W3CDTF">2025-04-21T11:59:23Z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8860073C258B1AD38B056465F0A2DC00_43</vt:lpwstr>
  </property>
  <property fmtid="{D5CDD505-2E9C-101B-9397-08002B2CF9AE}" pid="3" name="KSOProductBuildVer">
    <vt:lpwstr>2052-12.1.0.20784</vt:lpwstr>
  </property>
</Properties>
</file>